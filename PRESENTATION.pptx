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50" b="1" i="0">
                <a:solidFill>
                  <a:srgbClr val="F5F5F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1" i="0">
                <a:solidFill>
                  <a:srgbClr val="F5F5F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1" i="0">
                <a:solidFill>
                  <a:srgbClr val="F5F5F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733624" y="2562501"/>
            <a:ext cx="7195819" cy="653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38DF8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1" i="0">
                <a:solidFill>
                  <a:srgbClr val="F5F5F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166" y="148046"/>
            <a:ext cx="10309860" cy="1781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50" b="1" i="0">
                <a:solidFill>
                  <a:srgbClr val="F5F5F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4101" y="293433"/>
            <a:ext cx="8528685" cy="4211955"/>
          </a:xfrm>
          <a:prstGeom prst="rect"/>
        </p:spPr>
        <p:txBody>
          <a:bodyPr wrap="square" lIns="0" tIns="317500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2500"/>
              </a:spcBef>
            </a:pPr>
            <a:r>
              <a:rPr dirty="0" sz="9150" spc="-560"/>
              <a:t>Revenue </a:t>
            </a:r>
            <a:r>
              <a:rPr dirty="0" sz="9150" spc="-530"/>
              <a:t>Intelligence</a:t>
            </a:r>
            <a:r>
              <a:rPr dirty="0" sz="9150" spc="-1215"/>
              <a:t> </a:t>
            </a:r>
            <a:r>
              <a:rPr dirty="0" sz="9150" spc="-475"/>
              <a:t>Inbox</a:t>
            </a:r>
            <a:endParaRPr sz="9150"/>
          </a:p>
          <a:p>
            <a:pPr marL="43815" marR="3118485">
              <a:lnSpc>
                <a:spcPts val="3940"/>
              </a:lnSpc>
              <a:spcBef>
                <a:spcPts val="1695"/>
              </a:spcBef>
            </a:pPr>
            <a:r>
              <a:rPr dirty="0" sz="3350" spc="-105" b="0">
                <a:latin typeface="Roboto"/>
                <a:cs typeface="Roboto"/>
              </a:rPr>
              <a:t>Evidence-</a:t>
            </a:r>
            <a:r>
              <a:rPr dirty="0" sz="3350" spc="-95" b="0">
                <a:latin typeface="Roboto"/>
                <a:cs typeface="Roboto"/>
              </a:rPr>
              <a:t>First</a:t>
            </a:r>
            <a:r>
              <a:rPr dirty="0" sz="3350" spc="-165" b="0">
                <a:latin typeface="Roboto"/>
                <a:cs typeface="Roboto"/>
              </a:rPr>
              <a:t> </a:t>
            </a:r>
            <a:r>
              <a:rPr dirty="0" sz="3350" spc="-90" b="0">
                <a:latin typeface="Roboto"/>
                <a:cs typeface="Roboto"/>
              </a:rPr>
              <a:t>Sales</a:t>
            </a:r>
            <a:r>
              <a:rPr dirty="0" sz="3350" spc="-165" b="0">
                <a:latin typeface="Roboto"/>
                <a:cs typeface="Roboto"/>
              </a:rPr>
              <a:t> </a:t>
            </a:r>
            <a:r>
              <a:rPr dirty="0" sz="3350" spc="-75" b="0">
                <a:latin typeface="Roboto"/>
                <a:cs typeface="Roboto"/>
              </a:rPr>
              <a:t>Analytics, </a:t>
            </a:r>
            <a:r>
              <a:rPr dirty="0" sz="3350" spc="-114" b="0">
                <a:latin typeface="Roboto"/>
                <a:cs typeface="Roboto"/>
              </a:rPr>
              <a:t>Multi-</a:t>
            </a:r>
            <a:r>
              <a:rPr dirty="0" sz="3350" spc="-95" b="0">
                <a:latin typeface="Roboto"/>
                <a:cs typeface="Roboto"/>
              </a:rPr>
              <a:t>Route</a:t>
            </a:r>
            <a:r>
              <a:rPr dirty="0" sz="3350" spc="-110" b="0">
                <a:latin typeface="Roboto"/>
                <a:cs typeface="Roboto"/>
              </a:rPr>
              <a:t> </a:t>
            </a:r>
            <a:r>
              <a:rPr dirty="0" sz="3350" spc="-105" b="0">
                <a:latin typeface="Roboto"/>
                <a:cs typeface="Roboto"/>
              </a:rPr>
              <a:t>Classification </a:t>
            </a:r>
            <a:r>
              <a:rPr dirty="0" sz="3350" spc="-50" b="0">
                <a:latin typeface="Roboto"/>
                <a:cs typeface="Roboto"/>
              </a:rPr>
              <a:t>&amp; </a:t>
            </a:r>
            <a:r>
              <a:rPr dirty="0" sz="3350" spc="-114" b="0">
                <a:latin typeface="Roboto"/>
                <a:cs typeface="Roboto"/>
              </a:rPr>
              <a:t>Audit-</a:t>
            </a:r>
            <a:r>
              <a:rPr dirty="0" sz="3350" spc="-90" b="0">
                <a:latin typeface="Roboto"/>
                <a:cs typeface="Roboto"/>
              </a:rPr>
              <a:t>Grade</a:t>
            </a:r>
            <a:r>
              <a:rPr dirty="0" sz="3350" spc="-155" b="0">
                <a:latin typeface="Roboto"/>
                <a:cs typeface="Roboto"/>
              </a:rPr>
              <a:t> </a:t>
            </a:r>
            <a:r>
              <a:rPr dirty="0" sz="3350" spc="-85" b="0">
                <a:latin typeface="Roboto"/>
                <a:cs typeface="Roboto"/>
              </a:rPr>
              <a:t>Data</a:t>
            </a:r>
            <a:r>
              <a:rPr dirty="0" sz="3350" spc="-155" b="0">
                <a:latin typeface="Roboto"/>
                <a:cs typeface="Roboto"/>
              </a:rPr>
              <a:t> </a:t>
            </a:r>
            <a:r>
              <a:rPr dirty="0" sz="3350" spc="-10" b="0">
                <a:latin typeface="Roboto"/>
                <a:cs typeface="Roboto"/>
              </a:rPr>
              <a:t>Operations</a:t>
            </a:r>
            <a:endParaRPr sz="335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2832" y="5039645"/>
            <a:ext cx="5324475" cy="4391025"/>
            <a:chOff x="732832" y="5039645"/>
            <a:chExt cx="5324475" cy="43910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832" y="5039645"/>
              <a:ext cx="5324474" cy="43910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7521" y="5345741"/>
              <a:ext cx="85724" cy="8572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47117" y="5251848"/>
            <a:ext cx="4457065" cy="3456304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7940" marR="1524635">
              <a:lnSpc>
                <a:spcPts val="3650"/>
              </a:lnSpc>
              <a:spcBef>
                <a:spcPts val="280"/>
              </a:spcBef>
            </a:pPr>
            <a:r>
              <a:rPr dirty="0" sz="3100" spc="-65" b="1">
                <a:solidFill>
                  <a:srgbClr val="42BDF6"/>
                </a:solidFill>
                <a:latin typeface="Trebuchet MS"/>
                <a:cs typeface="Trebuchet MS"/>
              </a:rPr>
              <a:t>EVIDENCE-</a:t>
            </a:r>
            <a:r>
              <a:rPr dirty="0" sz="3100" spc="-20" b="1">
                <a:solidFill>
                  <a:srgbClr val="42BDF6"/>
                </a:solidFill>
                <a:latin typeface="Trebuchet MS"/>
                <a:cs typeface="Trebuchet MS"/>
              </a:rPr>
              <a:t>FIRST </a:t>
            </a:r>
            <a:r>
              <a:rPr dirty="0" sz="3100" spc="-10" b="1">
                <a:solidFill>
                  <a:srgbClr val="42BDF6"/>
                </a:solidFill>
                <a:latin typeface="Trebuchet MS"/>
                <a:cs typeface="Trebuchet MS"/>
              </a:rPr>
              <a:t>INTELLIGENCE</a:t>
            </a:r>
            <a:endParaRPr sz="3100">
              <a:latin typeface="Trebuchet MS"/>
              <a:cs typeface="Trebuchet MS"/>
            </a:endParaRPr>
          </a:p>
          <a:p>
            <a:pPr marL="15875" marR="321310">
              <a:lnSpc>
                <a:spcPct val="114100"/>
              </a:lnSpc>
              <a:spcBef>
                <a:spcPts val="1070"/>
              </a:spcBef>
            </a:pPr>
            <a:r>
              <a:rPr dirty="0" sz="1950" spc="-45">
                <a:solidFill>
                  <a:srgbClr val="F5F5F5"/>
                </a:solidFill>
                <a:latin typeface="Roboto"/>
                <a:cs typeface="Roboto"/>
              </a:rPr>
              <a:t>Every</a:t>
            </a:r>
            <a:r>
              <a:rPr dirty="0" sz="1950" spc="-10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45">
                <a:solidFill>
                  <a:srgbClr val="F5F5F5"/>
                </a:solidFill>
                <a:latin typeface="Roboto"/>
                <a:cs typeface="Roboto"/>
              </a:rPr>
              <a:t>route</a:t>
            </a:r>
            <a:r>
              <a:rPr dirty="0" sz="1950" spc="-9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35">
                <a:solidFill>
                  <a:srgbClr val="F5F5F5"/>
                </a:solidFill>
                <a:latin typeface="Roboto"/>
                <a:cs typeface="Roboto"/>
              </a:rPr>
              <a:t>and</a:t>
            </a:r>
            <a:r>
              <a:rPr dirty="0" sz="1950" spc="-9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40">
                <a:solidFill>
                  <a:srgbClr val="F5F5F5"/>
                </a:solidFill>
                <a:latin typeface="Roboto"/>
                <a:cs typeface="Roboto"/>
              </a:rPr>
              <a:t>next</a:t>
            </a:r>
            <a:r>
              <a:rPr dirty="0" sz="1950" spc="-9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45">
                <a:solidFill>
                  <a:srgbClr val="F5F5F5"/>
                </a:solidFill>
                <a:latin typeface="Roboto"/>
                <a:cs typeface="Roboto"/>
              </a:rPr>
              <a:t>action</a:t>
            </a:r>
            <a:r>
              <a:rPr dirty="0" sz="1950" spc="-9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25">
                <a:solidFill>
                  <a:srgbClr val="F5F5F5"/>
                </a:solidFill>
                <a:latin typeface="Roboto"/>
                <a:cs typeface="Roboto"/>
              </a:rPr>
              <a:t>is</a:t>
            </a:r>
            <a:r>
              <a:rPr dirty="0" sz="1950" spc="-9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30">
                <a:solidFill>
                  <a:srgbClr val="F5F5F5"/>
                </a:solidFill>
                <a:latin typeface="Roboto"/>
                <a:cs typeface="Roboto"/>
              </a:rPr>
              <a:t>anchored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directly</a:t>
            </a:r>
            <a:r>
              <a:rPr dirty="0" sz="1950" spc="-6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25">
                <a:solidFill>
                  <a:srgbClr val="F5F5F5"/>
                </a:solidFill>
                <a:latin typeface="Roboto"/>
                <a:cs typeface="Roboto"/>
              </a:rPr>
              <a:t>to</a:t>
            </a:r>
            <a:r>
              <a:rPr dirty="0" sz="1950" spc="-6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verbatim</a:t>
            </a:r>
            <a:r>
              <a:rPr dirty="0" sz="1950" spc="-6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55">
                <a:solidFill>
                  <a:srgbClr val="F5F5F5"/>
                </a:solidFill>
                <a:latin typeface="Roboto"/>
                <a:cs typeface="Roboto"/>
              </a:rPr>
              <a:t>conversation</a:t>
            </a:r>
            <a:r>
              <a:rPr dirty="0" sz="1950" spc="-6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10">
                <a:solidFill>
                  <a:srgbClr val="F5F5F5"/>
                </a:solidFill>
                <a:latin typeface="Roboto"/>
                <a:cs typeface="Roboto"/>
              </a:rPr>
              <a:t>text.</a:t>
            </a:r>
            <a:endParaRPr sz="1950">
              <a:latin typeface="Roboto"/>
              <a:cs typeface="Roboto"/>
            </a:endParaRPr>
          </a:p>
          <a:p>
            <a:pPr marL="12700" marR="5080">
              <a:lnSpc>
                <a:spcPct val="114100"/>
              </a:lnSpc>
              <a:spcBef>
                <a:spcPts val="1065"/>
              </a:spcBef>
            </a:pP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Missing </a:t>
            </a:r>
            <a:r>
              <a:rPr dirty="0" sz="1950" spc="-55">
                <a:solidFill>
                  <a:srgbClr val="F5F5F5"/>
                </a:solidFill>
                <a:latin typeface="Roboto"/>
                <a:cs typeface="Roboto"/>
              </a:rPr>
              <a:t>transcripts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 explicitly </a:t>
            </a:r>
            <a:r>
              <a:rPr dirty="0" sz="1950" spc="-45">
                <a:solidFill>
                  <a:srgbClr val="F5F5F5"/>
                </a:solidFill>
                <a:latin typeface="Roboto"/>
                <a:cs typeface="Roboto"/>
              </a:rPr>
              <a:t>distinguished </a:t>
            </a:r>
            <a:r>
              <a:rPr dirty="0" sz="1950" spc="-40">
                <a:solidFill>
                  <a:srgbClr val="F5F5F5"/>
                </a:solidFill>
                <a:latin typeface="Roboto"/>
                <a:cs typeface="Roboto"/>
              </a:rPr>
              <a:t>from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60">
                <a:solidFill>
                  <a:srgbClr val="F5F5F5"/>
                </a:solidFill>
                <a:latin typeface="Roboto"/>
                <a:cs typeface="Roboto"/>
              </a:rPr>
              <a:t>non-</a:t>
            </a:r>
            <a:r>
              <a:rPr dirty="0" sz="1950" spc="-10">
                <a:solidFill>
                  <a:srgbClr val="F5F5F5"/>
                </a:solidFill>
                <a:latin typeface="Roboto"/>
                <a:cs typeface="Roboto"/>
              </a:rPr>
              <a:t>occurrence.</a:t>
            </a:r>
            <a:endParaRPr sz="1950">
              <a:latin typeface="Roboto"/>
              <a:cs typeface="Roboto"/>
            </a:endParaRPr>
          </a:p>
          <a:p>
            <a:pPr marL="16510" marR="498475">
              <a:lnSpc>
                <a:spcPct val="114300"/>
              </a:lnSpc>
              <a:spcBef>
                <a:spcPts val="1095"/>
              </a:spcBef>
            </a:pPr>
            <a:r>
              <a:rPr dirty="0" sz="2050" spc="-80">
                <a:solidFill>
                  <a:srgbClr val="F5F5F5"/>
                </a:solidFill>
                <a:latin typeface="Roboto"/>
                <a:cs typeface="Roboto"/>
              </a:rPr>
              <a:t>Pre-</a:t>
            </a:r>
            <a:r>
              <a:rPr dirty="0" sz="2050" spc="-75">
                <a:solidFill>
                  <a:srgbClr val="F5F5F5"/>
                </a:solidFill>
                <a:latin typeface="Roboto"/>
                <a:cs typeface="Roboto"/>
              </a:rPr>
              <a:t>generated</a:t>
            </a:r>
            <a:r>
              <a:rPr dirty="0" sz="2050" spc="-6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0">
                <a:solidFill>
                  <a:srgbClr val="F5F5F5"/>
                </a:solidFill>
                <a:latin typeface="Roboto"/>
                <a:cs typeface="Roboto"/>
              </a:rPr>
              <a:t>analyses</a:t>
            </a:r>
            <a:r>
              <a:rPr dirty="0" sz="2050" spc="-5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0">
                <a:solidFill>
                  <a:srgbClr val="F5F5F5"/>
                </a:solidFill>
                <a:latin typeface="Roboto"/>
                <a:cs typeface="Roboto"/>
              </a:rPr>
              <a:t>flagged</a:t>
            </a:r>
            <a:r>
              <a:rPr dirty="0" sz="2050" spc="-6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25">
                <a:solidFill>
                  <a:srgbClr val="F5F5F5"/>
                </a:solidFill>
                <a:latin typeface="Roboto"/>
                <a:cs typeface="Roboto"/>
              </a:rPr>
              <a:t>as </a:t>
            </a:r>
            <a:r>
              <a:rPr dirty="0" sz="2050" spc="-65">
                <a:solidFill>
                  <a:srgbClr val="F5F5F5"/>
                </a:solidFill>
                <a:latin typeface="Roboto"/>
                <a:cs typeface="Roboto"/>
              </a:rPr>
              <a:t>Stale</a:t>
            </a:r>
            <a:r>
              <a:rPr dirty="0" sz="2050" spc="-8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60">
                <a:solidFill>
                  <a:srgbClr val="F5F5F5"/>
                </a:solidFill>
                <a:latin typeface="Roboto"/>
                <a:cs typeface="Roboto"/>
              </a:rPr>
              <a:t>when</a:t>
            </a:r>
            <a:r>
              <a:rPr dirty="0" sz="2050" spc="-8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0">
                <a:solidFill>
                  <a:srgbClr val="F5F5F5"/>
                </a:solidFill>
                <a:latin typeface="Roboto"/>
                <a:cs typeface="Roboto"/>
              </a:rPr>
              <a:t>source</a:t>
            </a:r>
            <a:r>
              <a:rPr dirty="0" sz="20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5">
                <a:solidFill>
                  <a:srgbClr val="F5F5F5"/>
                </a:solidFill>
                <a:latin typeface="Roboto"/>
                <a:cs typeface="Roboto"/>
              </a:rPr>
              <a:t>revisions</a:t>
            </a:r>
            <a:r>
              <a:rPr dirty="0" sz="20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45">
                <a:solidFill>
                  <a:srgbClr val="F5F5F5"/>
                </a:solidFill>
                <a:latin typeface="Roboto"/>
                <a:cs typeface="Roboto"/>
              </a:rPr>
              <a:t>change.</a:t>
            </a:r>
            <a:endParaRPr sz="205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322047" y="5039645"/>
            <a:ext cx="5305425" cy="4391025"/>
            <a:chOff x="6322047" y="5039645"/>
            <a:chExt cx="5305425" cy="439102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2047" y="5039645"/>
              <a:ext cx="5305424" cy="43910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3922" y="5356673"/>
              <a:ext cx="123824" cy="8381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697878" y="5251848"/>
            <a:ext cx="4780280" cy="184594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879475">
              <a:lnSpc>
                <a:spcPts val="3650"/>
              </a:lnSpc>
              <a:spcBef>
                <a:spcPts val="280"/>
              </a:spcBef>
            </a:pPr>
            <a:r>
              <a:rPr dirty="0" sz="3100" b="1">
                <a:solidFill>
                  <a:srgbClr val="42BDF6"/>
                </a:solidFill>
                <a:latin typeface="Trebuchet MS"/>
                <a:cs typeface="Trebuchet MS"/>
              </a:rPr>
              <a:t>HUMAN-</a:t>
            </a:r>
            <a:r>
              <a:rPr dirty="0" sz="3100" spc="-65" b="1">
                <a:solidFill>
                  <a:srgbClr val="42BDF6"/>
                </a:solidFill>
                <a:latin typeface="Trebuchet MS"/>
                <a:cs typeface="Trebuchet MS"/>
              </a:rPr>
              <a:t>CONTROLLED </a:t>
            </a:r>
            <a:r>
              <a:rPr dirty="0" sz="3100" spc="-10" b="1">
                <a:solidFill>
                  <a:srgbClr val="42BDF6"/>
                </a:solidFill>
                <a:latin typeface="Trebuchet MS"/>
                <a:cs typeface="Trebuchet MS"/>
              </a:rPr>
              <a:t>ROUTING</a:t>
            </a:r>
            <a:endParaRPr sz="3100">
              <a:latin typeface="Trebuchet MS"/>
              <a:cs typeface="Trebuchet MS"/>
            </a:endParaRPr>
          </a:p>
          <a:p>
            <a:pPr marL="31750" marR="5080">
              <a:lnSpc>
                <a:spcPct val="114300"/>
              </a:lnSpc>
              <a:spcBef>
                <a:spcPts val="1230"/>
              </a:spcBef>
            </a:pPr>
            <a:r>
              <a:rPr dirty="0" sz="2050" spc="-75">
                <a:solidFill>
                  <a:srgbClr val="F5F5F5"/>
                </a:solidFill>
                <a:latin typeface="Roboto"/>
                <a:cs typeface="Roboto"/>
              </a:rPr>
              <a:t>Multi-destination</a:t>
            </a:r>
            <a:r>
              <a:rPr dirty="0" sz="2050" spc="-4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5">
                <a:solidFill>
                  <a:srgbClr val="F5F5F5"/>
                </a:solidFill>
                <a:latin typeface="Roboto"/>
                <a:cs typeface="Roboto"/>
              </a:rPr>
              <a:t>categories:</a:t>
            </a:r>
            <a:r>
              <a:rPr dirty="0" sz="2050" spc="-3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0">
                <a:solidFill>
                  <a:srgbClr val="F5F5F5"/>
                </a:solidFill>
                <a:latin typeface="Roboto"/>
                <a:cs typeface="Roboto"/>
              </a:rPr>
              <a:t>Coaching,</a:t>
            </a:r>
            <a:r>
              <a:rPr dirty="0" sz="2050" spc="-4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20">
                <a:solidFill>
                  <a:srgbClr val="F5F5F5"/>
                </a:solidFill>
                <a:latin typeface="Roboto"/>
                <a:cs typeface="Roboto"/>
              </a:rPr>
              <a:t>Deal </a:t>
            </a:r>
            <a:r>
              <a:rPr dirty="0" sz="2050" spc="-80">
                <a:solidFill>
                  <a:srgbClr val="F5F5F5"/>
                </a:solidFill>
                <a:latin typeface="Roboto"/>
                <a:cs typeface="Roboto"/>
              </a:rPr>
              <a:t>Follow-</a:t>
            </a:r>
            <a:r>
              <a:rPr dirty="0" sz="2050" spc="-55">
                <a:solidFill>
                  <a:srgbClr val="F5F5F5"/>
                </a:solidFill>
                <a:latin typeface="Roboto"/>
                <a:cs typeface="Roboto"/>
              </a:rPr>
              <a:t>up,</a:t>
            </a:r>
            <a:r>
              <a:rPr dirty="0" sz="2050" spc="-4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0">
                <a:solidFill>
                  <a:srgbClr val="F5F5F5"/>
                </a:solidFill>
                <a:latin typeface="Roboto"/>
                <a:cs typeface="Roboto"/>
              </a:rPr>
              <a:t>Support,</a:t>
            </a:r>
            <a:r>
              <a:rPr dirty="0" sz="2050" spc="-5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5">
                <a:solidFill>
                  <a:srgbClr val="F5F5F5"/>
                </a:solidFill>
                <a:latin typeface="Roboto"/>
                <a:cs typeface="Roboto"/>
              </a:rPr>
              <a:t>Partnerships,</a:t>
            </a:r>
            <a:r>
              <a:rPr dirty="0" sz="2050" spc="-5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5F5F5"/>
                </a:solidFill>
                <a:latin typeface="Roboto"/>
                <a:cs typeface="Roboto"/>
              </a:rPr>
              <a:t>Reviews.</a:t>
            </a:r>
            <a:endParaRPr sz="205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17529" y="7453323"/>
            <a:ext cx="4765675" cy="15271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99390">
              <a:lnSpc>
                <a:spcPct val="114100"/>
              </a:lnSpc>
              <a:spcBef>
                <a:spcPts val="90"/>
              </a:spcBef>
            </a:pP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Machine</a:t>
            </a:r>
            <a:r>
              <a:rPr dirty="0" sz="1950" spc="-6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suggestions</a:t>
            </a:r>
            <a:r>
              <a:rPr dirty="0" sz="1950" spc="-6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strictly</a:t>
            </a:r>
            <a:r>
              <a:rPr dirty="0" sz="1950" spc="-6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separate</a:t>
            </a:r>
            <a:r>
              <a:rPr dirty="0" sz="1950" spc="-6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20">
                <a:solidFill>
                  <a:srgbClr val="F5F5F5"/>
                </a:solidFill>
                <a:latin typeface="Roboto"/>
                <a:cs typeface="Roboto"/>
              </a:rPr>
              <a:t>from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manager</a:t>
            </a:r>
            <a:r>
              <a:rPr dirty="0" sz="1950" spc="-5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10">
                <a:solidFill>
                  <a:srgbClr val="F5F5F5"/>
                </a:solidFill>
                <a:latin typeface="Roboto"/>
                <a:cs typeface="Roboto"/>
              </a:rPr>
              <a:t>overides.</a:t>
            </a:r>
            <a:endParaRPr sz="1950">
              <a:latin typeface="Roboto"/>
              <a:cs typeface="Roboto"/>
            </a:endParaRPr>
          </a:p>
          <a:p>
            <a:pPr marL="12700" marR="5080">
              <a:lnSpc>
                <a:spcPct val="114300"/>
              </a:lnSpc>
              <a:spcBef>
                <a:spcPts val="869"/>
              </a:spcBef>
            </a:pPr>
            <a:r>
              <a:rPr dirty="0" sz="2050" spc="-65">
                <a:solidFill>
                  <a:srgbClr val="F5F5F5"/>
                </a:solidFill>
                <a:latin typeface="Roboto"/>
                <a:cs typeface="Roboto"/>
              </a:rPr>
              <a:t>Manual</a:t>
            </a:r>
            <a:r>
              <a:rPr dirty="0" sz="20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65">
                <a:solidFill>
                  <a:srgbClr val="F5F5F5"/>
                </a:solidFill>
                <a:latin typeface="Roboto"/>
                <a:cs typeface="Roboto"/>
              </a:rPr>
              <a:t>human</a:t>
            </a:r>
            <a:r>
              <a:rPr dirty="0" sz="2050" spc="-8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5">
                <a:solidFill>
                  <a:srgbClr val="F5F5F5"/>
                </a:solidFill>
                <a:latin typeface="Roboto"/>
                <a:cs typeface="Roboto"/>
              </a:rPr>
              <a:t>corrections </a:t>
            </a:r>
            <a:r>
              <a:rPr dirty="0" sz="2050" spc="-65">
                <a:solidFill>
                  <a:srgbClr val="F5F5F5"/>
                </a:solidFill>
                <a:latin typeface="Roboto"/>
                <a:cs typeface="Roboto"/>
              </a:rPr>
              <a:t>deterministically </a:t>
            </a:r>
            <a:r>
              <a:rPr dirty="0" sz="2050" spc="-75">
                <a:solidFill>
                  <a:srgbClr val="F5F5F5"/>
                </a:solidFill>
                <a:latin typeface="Roboto"/>
                <a:cs typeface="Roboto"/>
              </a:rPr>
              <a:t>preserved</a:t>
            </a:r>
            <a:r>
              <a:rPr dirty="0" sz="2050" spc="-8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0">
                <a:solidFill>
                  <a:srgbClr val="F5F5F5"/>
                </a:solidFill>
                <a:latin typeface="Roboto"/>
                <a:cs typeface="Roboto"/>
              </a:rPr>
              <a:t>across</a:t>
            </a:r>
            <a:r>
              <a:rPr dirty="0" sz="2050" spc="-7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0">
                <a:solidFill>
                  <a:srgbClr val="F5F5F5"/>
                </a:solidFill>
                <a:latin typeface="Roboto"/>
                <a:cs typeface="Roboto"/>
              </a:rPr>
              <a:t>source</a:t>
            </a:r>
            <a:r>
              <a:rPr dirty="0" sz="2050" spc="-7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5F5F5"/>
                </a:solidFill>
                <a:latin typeface="Roboto"/>
                <a:cs typeface="Roboto"/>
              </a:rPr>
              <a:t>updates.</a:t>
            </a:r>
            <a:endParaRPr sz="2050">
              <a:latin typeface="Roboto"/>
              <a:cs typeface="Roboto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78449" y="5039645"/>
            <a:ext cx="5676899" cy="439102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2234118" y="5251848"/>
            <a:ext cx="4812665" cy="345694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6830" marR="2331720">
              <a:lnSpc>
                <a:spcPts val="3650"/>
              </a:lnSpc>
              <a:spcBef>
                <a:spcPts val="280"/>
              </a:spcBef>
            </a:pPr>
            <a:r>
              <a:rPr dirty="0" sz="3100" spc="-75" b="1">
                <a:solidFill>
                  <a:srgbClr val="42BDF6"/>
                </a:solidFill>
                <a:latin typeface="Trebuchet MS"/>
                <a:cs typeface="Trebuchet MS"/>
              </a:rPr>
              <a:t>AUDIT-</a:t>
            </a:r>
            <a:r>
              <a:rPr dirty="0" sz="3100" spc="-25" b="1">
                <a:solidFill>
                  <a:srgbClr val="42BDF6"/>
                </a:solidFill>
                <a:latin typeface="Trebuchet MS"/>
                <a:cs typeface="Trebuchet MS"/>
              </a:rPr>
              <a:t>GRADE </a:t>
            </a:r>
            <a:r>
              <a:rPr dirty="0" sz="3100" spc="-10" b="1">
                <a:solidFill>
                  <a:srgbClr val="42BDF6"/>
                </a:solidFill>
                <a:latin typeface="Trebuchet MS"/>
                <a:cs typeface="Trebuchet MS"/>
              </a:rPr>
              <a:t>INGESTION</a:t>
            </a:r>
            <a:endParaRPr sz="3100">
              <a:latin typeface="Trebuchet MS"/>
              <a:cs typeface="Trebuchet MS"/>
            </a:endParaRPr>
          </a:p>
          <a:p>
            <a:pPr marL="20320" marR="759460">
              <a:lnSpc>
                <a:spcPct val="114100"/>
              </a:lnSpc>
              <a:spcBef>
                <a:spcPts val="1070"/>
              </a:spcBef>
            </a:pPr>
            <a:r>
              <a:rPr dirty="0" sz="1950" spc="-45">
                <a:solidFill>
                  <a:srgbClr val="F5F5F5"/>
                </a:solidFill>
                <a:latin typeface="Roboto"/>
                <a:cs typeface="Roboto"/>
              </a:rPr>
              <a:t>Unique</a:t>
            </a:r>
            <a:r>
              <a:rPr dirty="0" sz="19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identity</a:t>
            </a:r>
            <a:r>
              <a:rPr dirty="0" sz="19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enforced</a:t>
            </a:r>
            <a:r>
              <a:rPr dirty="0" sz="19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25">
                <a:solidFill>
                  <a:srgbClr val="F5F5F5"/>
                </a:solidFill>
                <a:latin typeface="Roboto"/>
                <a:cs typeface="Roboto"/>
              </a:rPr>
              <a:t>by</a:t>
            </a:r>
            <a:r>
              <a:rPr dirty="0" sz="19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35">
                <a:solidFill>
                  <a:srgbClr val="F5F5F5"/>
                </a:solidFill>
                <a:latin typeface="Roboto"/>
                <a:cs typeface="Roboto"/>
              </a:rPr>
              <a:t>composite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primary</a:t>
            </a:r>
            <a:r>
              <a:rPr dirty="0" sz="1950" spc="-5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40">
                <a:solidFill>
                  <a:srgbClr val="F5F5F5"/>
                </a:solidFill>
                <a:latin typeface="Roboto"/>
                <a:cs typeface="Roboto"/>
              </a:rPr>
              <a:t>key:</a:t>
            </a:r>
            <a:r>
              <a:rPr dirty="0" sz="1950" spc="-55">
                <a:solidFill>
                  <a:srgbClr val="F5F5F5"/>
                </a:solidFill>
                <a:latin typeface="Roboto"/>
                <a:cs typeface="Roboto"/>
              </a:rPr>
              <a:t> (source_type,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10">
                <a:solidFill>
                  <a:srgbClr val="F5F5F5"/>
                </a:solidFill>
                <a:latin typeface="Roboto"/>
                <a:cs typeface="Roboto"/>
              </a:rPr>
              <a:t>source_id).</a:t>
            </a:r>
            <a:endParaRPr sz="1950">
              <a:latin typeface="Roboto"/>
              <a:cs typeface="Roboto"/>
            </a:endParaRPr>
          </a:p>
          <a:p>
            <a:pPr marL="12700" marR="5080">
              <a:lnSpc>
                <a:spcPct val="114100"/>
              </a:lnSpc>
              <a:spcBef>
                <a:spcPts val="1065"/>
              </a:spcBef>
            </a:pPr>
            <a:r>
              <a:rPr dirty="0" sz="1950" spc="-25">
                <a:solidFill>
                  <a:srgbClr val="F5F5F5"/>
                </a:solidFill>
                <a:latin typeface="Roboto"/>
                <a:cs typeface="Roboto"/>
              </a:rPr>
              <a:t>44</a:t>
            </a:r>
            <a:r>
              <a:rPr dirty="0" sz="19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logical</a:t>
            </a:r>
            <a:r>
              <a:rPr dirty="0" sz="19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records</a:t>
            </a:r>
            <a:r>
              <a:rPr dirty="0" sz="19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35">
                <a:solidFill>
                  <a:srgbClr val="F5F5F5"/>
                </a:solidFill>
                <a:latin typeface="Roboto"/>
                <a:cs typeface="Roboto"/>
              </a:rPr>
              <a:t>(30</a:t>
            </a:r>
            <a:r>
              <a:rPr dirty="0" sz="19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calls,</a:t>
            </a:r>
            <a:r>
              <a:rPr dirty="0" sz="19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25">
                <a:solidFill>
                  <a:srgbClr val="F5F5F5"/>
                </a:solidFill>
                <a:latin typeface="Roboto"/>
                <a:cs typeface="Roboto"/>
              </a:rPr>
              <a:t>14</a:t>
            </a:r>
            <a:r>
              <a:rPr dirty="0" sz="19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meetings)</a:t>
            </a:r>
            <a:r>
              <a:rPr dirty="0" sz="19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20">
                <a:solidFill>
                  <a:srgbClr val="F5F5F5"/>
                </a:solidFill>
                <a:latin typeface="Roboto"/>
                <a:cs typeface="Roboto"/>
              </a:rPr>
              <a:t>with </a:t>
            </a:r>
            <a:r>
              <a:rPr dirty="0" sz="1950" spc="-40">
                <a:solidFill>
                  <a:srgbClr val="F5F5F5"/>
                </a:solidFill>
                <a:latin typeface="Roboto"/>
                <a:cs typeface="Roboto"/>
              </a:rPr>
              <a:t>zero</a:t>
            </a:r>
            <a:r>
              <a:rPr dirty="0" sz="1950" spc="-9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50">
                <a:solidFill>
                  <a:srgbClr val="F5F5F5"/>
                </a:solidFill>
                <a:latin typeface="Roboto"/>
                <a:cs typeface="Roboto"/>
              </a:rPr>
              <a:t>duplicate</a:t>
            </a:r>
            <a:r>
              <a:rPr dirty="0" sz="1950" spc="-8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40">
                <a:solidFill>
                  <a:srgbClr val="F5F5F5"/>
                </a:solidFill>
                <a:latin typeface="Roboto"/>
                <a:cs typeface="Roboto"/>
              </a:rPr>
              <a:t>rows</a:t>
            </a:r>
            <a:r>
              <a:rPr dirty="0" sz="1950" spc="-8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25">
                <a:solidFill>
                  <a:srgbClr val="F5F5F5"/>
                </a:solidFill>
                <a:latin typeface="Roboto"/>
                <a:cs typeface="Roboto"/>
              </a:rPr>
              <a:t>on</a:t>
            </a:r>
            <a:r>
              <a:rPr dirty="0" sz="1950" spc="-8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45">
                <a:solidFill>
                  <a:srgbClr val="F5F5F5"/>
                </a:solidFill>
                <a:latin typeface="Roboto"/>
                <a:cs typeface="Roboto"/>
              </a:rPr>
              <a:t>repeat</a:t>
            </a:r>
            <a:r>
              <a:rPr dirty="0" sz="1950" spc="-8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1950" spc="-10">
                <a:solidFill>
                  <a:srgbClr val="F5F5F5"/>
                </a:solidFill>
                <a:latin typeface="Roboto"/>
                <a:cs typeface="Roboto"/>
              </a:rPr>
              <a:t>imports.</a:t>
            </a:r>
            <a:endParaRPr sz="1950">
              <a:latin typeface="Roboto"/>
              <a:cs typeface="Roboto"/>
            </a:endParaRPr>
          </a:p>
          <a:p>
            <a:pPr marL="14604" marR="144145">
              <a:lnSpc>
                <a:spcPct val="114300"/>
              </a:lnSpc>
              <a:spcBef>
                <a:spcPts val="1100"/>
              </a:spcBef>
            </a:pPr>
            <a:r>
              <a:rPr dirty="0" sz="2050" spc="-75">
                <a:solidFill>
                  <a:srgbClr val="F5F5F5"/>
                </a:solidFill>
                <a:latin typeface="Roboto"/>
                <a:cs typeface="Roboto"/>
              </a:rPr>
              <a:t>Revision</a:t>
            </a:r>
            <a:r>
              <a:rPr dirty="0" sz="2050" spc="-8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5">
                <a:solidFill>
                  <a:srgbClr val="F5F5F5"/>
                </a:solidFill>
                <a:latin typeface="Roboto"/>
                <a:cs typeface="Roboto"/>
              </a:rPr>
              <a:t>precedence (Revision</a:t>
            </a:r>
            <a:r>
              <a:rPr dirty="0" sz="2050" spc="-8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20">
                <a:solidFill>
                  <a:srgbClr val="F5F5F5"/>
                </a:solidFill>
                <a:latin typeface="Roboto"/>
                <a:cs typeface="Roboto"/>
              </a:rPr>
              <a:t>2</a:t>
            </a:r>
            <a:r>
              <a:rPr dirty="0" sz="20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20">
                <a:solidFill>
                  <a:srgbClr val="F5F5F5"/>
                </a:solidFill>
                <a:latin typeface="Roboto"/>
                <a:cs typeface="Roboto"/>
              </a:rPr>
              <a:t>&gt;</a:t>
            </a:r>
            <a:r>
              <a:rPr dirty="0" sz="20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40">
                <a:solidFill>
                  <a:srgbClr val="F5F5F5"/>
                </a:solidFill>
                <a:latin typeface="Roboto"/>
                <a:cs typeface="Roboto"/>
              </a:rPr>
              <a:t>Revision </a:t>
            </a:r>
            <a:r>
              <a:rPr dirty="0" sz="2050" spc="-50">
                <a:solidFill>
                  <a:srgbClr val="F5F5F5"/>
                </a:solidFill>
                <a:latin typeface="Roboto"/>
                <a:cs typeface="Roboto"/>
              </a:rPr>
              <a:t>1)</a:t>
            </a:r>
            <a:r>
              <a:rPr dirty="0" sz="20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5">
                <a:solidFill>
                  <a:srgbClr val="F5F5F5"/>
                </a:solidFill>
                <a:latin typeface="Roboto"/>
                <a:cs typeface="Roboto"/>
              </a:rPr>
              <a:t>prevents</a:t>
            </a:r>
            <a:r>
              <a:rPr dirty="0" sz="20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70">
                <a:solidFill>
                  <a:srgbClr val="F5F5F5"/>
                </a:solidFill>
                <a:latin typeface="Roboto"/>
                <a:cs typeface="Roboto"/>
              </a:rPr>
              <a:t>downgrade</a:t>
            </a:r>
            <a:r>
              <a:rPr dirty="0" sz="2050" spc="-8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5F5F5"/>
                </a:solidFill>
                <a:latin typeface="Roboto"/>
                <a:cs typeface="Roboto"/>
              </a:rPr>
              <a:t>regressions.</a:t>
            </a:r>
            <a:endParaRPr sz="20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835" y="9630140"/>
            <a:ext cx="2032635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b="1">
                <a:solidFill>
                  <a:srgbClr val="42BDF6"/>
                </a:solidFill>
                <a:latin typeface="Trebuchet MS"/>
                <a:cs typeface="Trebuchet MS"/>
              </a:rPr>
              <a:t>ABHINAND</a:t>
            </a:r>
            <a:r>
              <a:rPr dirty="0" sz="2750" spc="-250" b="1">
                <a:solidFill>
                  <a:srgbClr val="42BDF6"/>
                </a:solidFill>
                <a:latin typeface="Trebuchet MS"/>
                <a:cs typeface="Trebuchet MS"/>
              </a:rPr>
              <a:t> </a:t>
            </a:r>
            <a:r>
              <a:rPr dirty="0" sz="2750" spc="60" b="1">
                <a:solidFill>
                  <a:srgbClr val="42BDF6"/>
                </a:solidFill>
                <a:latin typeface="Trebuchet MS"/>
                <a:cs typeface="Trebuchet MS"/>
              </a:rPr>
              <a:t>N</a:t>
            </a:r>
            <a:endParaRPr sz="275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59464" y="9718536"/>
            <a:ext cx="76199" cy="3428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548169" y="9630140"/>
            <a:ext cx="2811145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75">
                <a:solidFill>
                  <a:srgbClr val="F5F5F5"/>
                </a:solidFill>
                <a:latin typeface="Roboto"/>
                <a:cs typeface="Roboto"/>
              </a:rPr>
              <a:t>DEPT:</a:t>
            </a:r>
            <a:r>
              <a:rPr dirty="0" sz="2750" spc="-130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750" spc="-70">
                <a:solidFill>
                  <a:srgbClr val="F5F5F5"/>
                </a:solidFill>
                <a:latin typeface="Roboto"/>
                <a:cs typeface="Roboto"/>
              </a:rPr>
              <a:t>CSE(AI&amp;ML)</a:t>
            </a:r>
            <a:endParaRPr sz="2750">
              <a:latin typeface="Roboto"/>
              <a:cs typeface="Roboto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36124" y="9718536"/>
            <a:ext cx="57149" cy="3428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064224" y="9630140"/>
            <a:ext cx="7318375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95">
                <a:solidFill>
                  <a:srgbClr val="F5F5F5"/>
                </a:solidFill>
                <a:latin typeface="Roboto"/>
                <a:cs typeface="Roboto"/>
              </a:rPr>
              <a:t>KKIT-</a:t>
            </a:r>
            <a:r>
              <a:rPr dirty="0" sz="2750" spc="-90">
                <a:solidFill>
                  <a:srgbClr val="F5F5F5"/>
                </a:solidFill>
                <a:latin typeface="Roboto"/>
                <a:cs typeface="Roboto"/>
              </a:rPr>
              <a:t>Kalaignarkarunanidhi</a:t>
            </a:r>
            <a:r>
              <a:rPr dirty="0" sz="2750" spc="-7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750" spc="-85">
                <a:solidFill>
                  <a:srgbClr val="F5F5F5"/>
                </a:solidFill>
                <a:latin typeface="Roboto"/>
                <a:cs typeface="Roboto"/>
              </a:rPr>
              <a:t>Institute</a:t>
            </a:r>
            <a:r>
              <a:rPr dirty="0" sz="2750" spc="-7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750" spc="-45">
                <a:solidFill>
                  <a:srgbClr val="F5F5F5"/>
                </a:solidFill>
                <a:latin typeface="Roboto"/>
                <a:cs typeface="Roboto"/>
              </a:rPr>
              <a:t>of</a:t>
            </a:r>
            <a:r>
              <a:rPr dirty="0" sz="2750" spc="-75">
                <a:solidFill>
                  <a:srgbClr val="F5F5F5"/>
                </a:solidFill>
                <a:latin typeface="Roboto"/>
                <a:cs typeface="Roboto"/>
              </a:rPr>
              <a:t> </a:t>
            </a:r>
            <a:r>
              <a:rPr dirty="0" sz="2750" spc="-45">
                <a:solidFill>
                  <a:srgbClr val="F5F5F5"/>
                </a:solidFill>
                <a:latin typeface="Roboto"/>
                <a:cs typeface="Roboto"/>
              </a:rPr>
              <a:t>Technology</a:t>
            </a:r>
            <a:endParaRPr sz="27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5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dirty="0" sz="7250" spc="-70">
                <a:solidFill>
                  <a:srgbClr val="F7F7F7"/>
                </a:solidFill>
              </a:rPr>
              <a:t>Manager</a:t>
            </a:r>
            <a:r>
              <a:rPr dirty="0" sz="7250" spc="-620">
                <a:solidFill>
                  <a:srgbClr val="F7F7F7"/>
                </a:solidFill>
              </a:rPr>
              <a:t> </a:t>
            </a:r>
            <a:r>
              <a:rPr dirty="0" sz="7250" spc="-35">
                <a:solidFill>
                  <a:srgbClr val="F7F7F7"/>
                </a:solidFill>
              </a:rPr>
              <a:t>Dashboard</a:t>
            </a:r>
            <a:endParaRPr sz="7250"/>
          </a:p>
          <a:p>
            <a:pPr marL="17145">
              <a:lnSpc>
                <a:spcPct val="100000"/>
              </a:lnSpc>
              <a:spcBef>
                <a:spcPts val="580"/>
              </a:spcBef>
            </a:pPr>
            <a:r>
              <a:rPr dirty="0" sz="2450" b="0">
                <a:solidFill>
                  <a:srgbClr val="F7F7F7"/>
                </a:solidFill>
                <a:latin typeface="Roboto"/>
                <a:cs typeface="Roboto"/>
              </a:rPr>
              <a:t>21</a:t>
            </a:r>
            <a:r>
              <a:rPr dirty="0" sz="2450" spc="-100" b="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450" spc="-30" b="0">
                <a:solidFill>
                  <a:srgbClr val="F7F7F7"/>
                </a:solidFill>
                <a:latin typeface="Roboto"/>
                <a:cs typeface="Roboto"/>
              </a:rPr>
              <a:t>August</a:t>
            </a:r>
            <a:r>
              <a:rPr dirty="0" sz="2450" spc="-95" b="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450" spc="-20" b="0">
                <a:solidFill>
                  <a:srgbClr val="F7F7F7"/>
                </a:solidFill>
                <a:latin typeface="Roboto"/>
                <a:cs typeface="Roboto"/>
              </a:rPr>
              <a:t>2026</a:t>
            </a:r>
            <a:r>
              <a:rPr dirty="0" sz="2450" spc="-100" b="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450" spc="-45" b="0">
                <a:solidFill>
                  <a:srgbClr val="F7F7F7"/>
                </a:solidFill>
                <a:latin typeface="Roboto"/>
                <a:cs typeface="Roboto"/>
              </a:rPr>
              <a:t>(Asia/Kolkata):</a:t>
            </a:r>
            <a:r>
              <a:rPr dirty="0" sz="2450" spc="-95" b="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450" spc="-40" b="0">
                <a:solidFill>
                  <a:srgbClr val="F7F7F7"/>
                </a:solidFill>
                <a:latin typeface="Roboto"/>
                <a:cs typeface="Roboto"/>
              </a:rPr>
              <a:t>Operational</a:t>
            </a:r>
            <a:r>
              <a:rPr dirty="0" sz="2450" spc="-100" b="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450" spc="-35" b="0">
                <a:solidFill>
                  <a:srgbClr val="F7F7F7"/>
                </a:solidFill>
                <a:latin typeface="Roboto"/>
                <a:cs typeface="Roboto"/>
              </a:rPr>
              <a:t>Dashboard</a:t>
            </a:r>
            <a:r>
              <a:rPr dirty="0" sz="2450" spc="-95" b="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450" b="0">
                <a:solidFill>
                  <a:srgbClr val="F7F7F7"/>
                </a:solidFill>
                <a:latin typeface="Roboto"/>
                <a:cs typeface="Roboto"/>
              </a:rPr>
              <a:t>&amp;</a:t>
            </a:r>
            <a:r>
              <a:rPr dirty="0" sz="2450" spc="-100" b="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450" spc="-30" b="0">
                <a:solidFill>
                  <a:srgbClr val="F7F7F7"/>
                </a:solidFill>
                <a:latin typeface="Roboto"/>
                <a:cs typeface="Roboto"/>
              </a:rPr>
              <a:t>Source</a:t>
            </a:r>
            <a:r>
              <a:rPr dirty="0" sz="2450" spc="-95" b="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450" spc="-10" b="0">
                <a:solidFill>
                  <a:srgbClr val="F7F7F7"/>
                </a:solidFill>
                <a:latin typeface="Roboto"/>
                <a:cs typeface="Roboto"/>
              </a:rPr>
              <a:t>Constraints</a:t>
            </a:r>
            <a:endParaRPr sz="245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20697" y="0"/>
            <a:ext cx="4167301" cy="4038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894" y="2339445"/>
            <a:ext cx="123824" cy="3533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33201" y="2320707"/>
            <a:ext cx="3244850" cy="1778000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1470"/>
              </a:spcBef>
            </a:pPr>
            <a:r>
              <a:rPr dirty="0" sz="7500" spc="-25" b="1">
                <a:solidFill>
                  <a:srgbClr val="49BEF7"/>
                </a:solidFill>
                <a:latin typeface="Trebuchet MS"/>
                <a:cs typeface="Trebuchet MS"/>
              </a:rPr>
              <a:t>44</a:t>
            </a:r>
            <a:endParaRPr sz="7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450" spc="-110" b="1">
                <a:solidFill>
                  <a:srgbClr val="F7F7F7"/>
                </a:solidFill>
                <a:latin typeface="Trebuchet MS"/>
                <a:cs typeface="Trebuchet MS"/>
              </a:rPr>
              <a:t>Unique</a:t>
            </a:r>
            <a:r>
              <a:rPr dirty="0" sz="2450" spc="-170" b="1">
                <a:solidFill>
                  <a:srgbClr val="F7F7F7"/>
                </a:solidFill>
                <a:latin typeface="Trebuchet MS"/>
                <a:cs typeface="Trebuchet MS"/>
              </a:rPr>
              <a:t> </a:t>
            </a:r>
            <a:r>
              <a:rPr dirty="0" sz="2450" spc="-40" b="1">
                <a:solidFill>
                  <a:srgbClr val="F7F7F7"/>
                </a:solidFill>
                <a:latin typeface="Trebuchet MS"/>
                <a:cs typeface="Trebuchet MS"/>
              </a:rPr>
              <a:t>Logical</a:t>
            </a:r>
            <a:r>
              <a:rPr dirty="0" sz="2450" spc="-170" b="1">
                <a:solidFill>
                  <a:srgbClr val="F7F7F7"/>
                </a:solidFill>
                <a:latin typeface="Trebuchet MS"/>
                <a:cs typeface="Trebuchet MS"/>
              </a:rPr>
              <a:t> </a:t>
            </a:r>
            <a:r>
              <a:rPr dirty="0" sz="2450" spc="-10" b="1">
                <a:solidFill>
                  <a:srgbClr val="F7F7F7"/>
                </a:solidFill>
                <a:latin typeface="Trebuchet MS"/>
                <a:cs typeface="Trebuchet MS"/>
              </a:rPr>
              <a:t>Records</a:t>
            </a:r>
            <a:endParaRPr sz="24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0582" y="4502688"/>
            <a:ext cx="2455545" cy="73977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900">
                <a:solidFill>
                  <a:srgbClr val="F7F7F7"/>
                </a:solidFill>
                <a:latin typeface="Roboto"/>
                <a:cs typeface="Roboto"/>
              </a:rPr>
              <a:t>30</a:t>
            </a:r>
            <a:r>
              <a:rPr dirty="0" sz="1900" spc="-8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1900" spc="-35">
                <a:solidFill>
                  <a:srgbClr val="F7F7F7"/>
                </a:solidFill>
                <a:latin typeface="Roboto"/>
                <a:cs typeface="Roboto"/>
              </a:rPr>
              <a:t>Outbound</a:t>
            </a:r>
            <a:r>
              <a:rPr dirty="0" sz="1900" spc="-8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1900" spc="-10">
                <a:solidFill>
                  <a:srgbClr val="F7F7F7"/>
                </a:solidFill>
                <a:latin typeface="Roboto"/>
                <a:cs typeface="Roboto"/>
              </a:rPr>
              <a:t>Calls</a:t>
            </a:r>
            <a:endParaRPr sz="1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900">
                <a:solidFill>
                  <a:srgbClr val="F7F7F7"/>
                </a:solidFill>
                <a:latin typeface="Roboto"/>
                <a:cs typeface="Roboto"/>
              </a:rPr>
              <a:t>14</a:t>
            </a:r>
            <a:r>
              <a:rPr dirty="0" sz="1900" spc="-6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1900" spc="-40">
                <a:solidFill>
                  <a:srgbClr val="F7F7F7"/>
                </a:solidFill>
                <a:latin typeface="Roboto"/>
                <a:cs typeface="Roboto"/>
              </a:rPr>
              <a:t>Scheduled</a:t>
            </a:r>
            <a:r>
              <a:rPr dirty="0" sz="1900" spc="-6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1900" spc="-25">
                <a:solidFill>
                  <a:srgbClr val="F7F7F7"/>
                </a:solidFill>
                <a:latin typeface="Roboto"/>
                <a:cs typeface="Roboto"/>
              </a:rPr>
              <a:t>Meetings</a:t>
            </a:r>
            <a:endParaRPr sz="19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64200" y="2339445"/>
            <a:ext cx="104774" cy="3543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78735" y="2229504"/>
            <a:ext cx="2654300" cy="2223770"/>
          </a:xfrm>
          <a:prstGeom prst="rect">
            <a:avLst/>
          </a:prstGeom>
        </p:spPr>
        <p:txBody>
          <a:bodyPr wrap="square" lIns="0" tIns="40830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3215"/>
              </a:spcBef>
            </a:pPr>
            <a:r>
              <a:rPr dirty="0" sz="6000" spc="-140" b="1">
                <a:solidFill>
                  <a:srgbClr val="49BEF7"/>
                </a:solidFill>
                <a:latin typeface="Trebuchet MS"/>
                <a:cs typeface="Trebuchet MS"/>
              </a:rPr>
              <a:t>17</a:t>
            </a:r>
            <a:r>
              <a:rPr dirty="0" sz="6000" spc="-545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6000" spc="-100" b="1">
                <a:solidFill>
                  <a:srgbClr val="49BEF7"/>
                </a:solidFill>
                <a:latin typeface="Trebuchet MS"/>
                <a:cs typeface="Trebuchet MS"/>
              </a:rPr>
              <a:t>/</a:t>
            </a:r>
            <a:r>
              <a:rPr dirty="0" sz="6000" spc="-545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6000" spc="-25" b="1">
                <a:solidFill>
                  <a:srgbClr val="49BEF7"/>
                </a:solidFill>
                <a:latin typeface="Trebuchet MS"/>
                <a:cs typeface="Trebuchet MS"/>
              </a:rPr>
              <a:t>44</a:t>
            </a:r>
            <a:endParaRPr sz="6000">
              <a:latin typeface="Trebuchet MS"/>
              <a:cs typeface="Trebuchet MS"/>
            </a:endParaRPr>
          </a:p>
          <a:p>
            <a:pPr marL="12700" marR="5080">
              <a:lnSpc>
                <a:spcPct val="104700"/>
              </a:lnSpc>
              <a:spcBef>
                <a:spcPts val="1085"/>
              </a:spcBef>
            </a:pPr>
            <a:r>
              <a:rPr dirty="0" sz="2350" spc="-95" b="1">
                <a:solidFill>
                  <a:srgbClr val="F7F7F7"/>
                </a:solidFill>
                <a:latin typeface="Trebuchet MS"/>
                <a:cs typeface="Trebuchet MS"/>
              </a:rPr>
              <a:t>Transcript</a:t>
            </a:r>
            <a:r>
              <a:rPr dirty="0" sz="2350" spc="-155" b="1">
                <a:solidFill>
                  <a:srgbClr val="F7F7F7"/>
                </a:solidFill>
                <a:latin typeface="Trebuchet MS"/>
                <a:cs typeface="Trebuchet MS"/>
              </a:rPr>
              <a:t> </a:t>
            </a:r>
            <a:r>
              <a:rPr dirty="0" sz="2350" spc="-55" b="1">
                <a:solidFill>
                  <a:srgbClr val="F7F7F7"/>
                </a:solidFill>
                <a:latin typeface="Trebuchet MS"/>
                <a:cs typeface="Trebuchet MS"/>
              </a:rPr>
              <a:t>Coverage </a:t>
            </a:r>
            <a:r>
              <a:rPr dirty="0" sz="2350" spc="-10" b="1">
                <a:solidFill>
                  <a:srgbClr val="F7F7F7"/>
                </a:solidFill>
                <a:latin typeface="Trebuchet MS"/>
                <a:cs typeface="Trebuchet MS"/>
              </a:rPr>
              <a:t>(39%)</a:t>
            </a:r>
            <a:endParaRPr sz="23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12650" y="4689822"/>
            <a:ext cx="3162299" cy="285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479310" y="4810706"/>
            <a:ext cx="2620010" cy="7651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105"/>
              </a:spcBef>
            </a:pPr>
            <a:r>
              <a:rPr dirty="0" sz="2750" spc="-70" b="1">
                <a:solidFill>
                  <a:srgbClr val="49BEF7"/>
                </a:solidFill>
                <a:latin typeface="Trebuchet MS"/>
                <a:cs typeface="Trebuchet MS"/>
              </a:rPr>
              <a:t>18</a:t>
            </a:r>
            <a:r>
              <a:rPr dirty="0" sz="2750" spc="-245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750" spc="-60" b="1">
                <a:solidFill>
                  <a:srgbClr val="49BEF7"/>
                </a:solidFill>
                <a:latin typeface="Trebuchet MS"/>
                <a:cs typeface="Trebuchet MS"/>
              </a:rPr>
              <a:t>/</a:t>
            </a:r>
            <a:r>
              <a:rPr dirty="0" sz="2750" spc="-245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750" spc="-25" b="1">
                <a:solidFill>
                  <a:srgbClr val="49BEF7"/>
                </a:solidFill>
                <a:latin typeface="Trebuchet MS"/>
                <a:cs typeface="Trebuchet MS"/>
              </a:rPr>
              <a:t>44</a:t>
            </a:r>
            <a:endParaRPr sz="2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after</a:t>
            </a:r>
            <a:r>
              <a:rPr dirty="0" sz="2050" spc="-7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M07</a:t>
            </a:r>
            <a:r>
              <a:rPr dirty="0" sz="2050" spc="-7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update</a:t>
            </a:r>
            <a:r>
              <a:rPr dirty="0" sz="2050" spc="-7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20">
                <a:solidFill>
                  <a:srgbClr val="F7F7F7"/>
                </a:solidFill>
                <a:latin typeface="Roboto"/>
                <a:cs typeface="Roboto"/>
              </a:rPr>
              <a:t>batch</a:t>
            </a:r>
            <a:endParaRPr sz="2050">
              <a:latin typeface="Roboto"/>
              <a:cs typeface="Roboto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29942" y="2339445"/>
            <a:ext cx="104774" cy="3543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693766" y="2320707"/>
            <a:ext cx="3069590" cy="1778000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7500" spc="-25" b="1">
                <a:solidFill>
                  <a:srgbClr val="49BEF7"/>
                </a:solidFill>
                <a:latin typeface="Trebuchet MS"/>
                <a:cs typeface="Trebuchet MS"/>
              </a:rPr>
              <a:t>75%</a:t>
            </a:r>
            <a:endParaRPr sz="7500">
              <a:latin typeface="Trebuchet MS"/>
              <a:cs typeface="Trebuchet MS"/>
            </a:endParaRPr>
          </a:p>
          <a:p>
            <a:pPr marL="53340">
              <a:lnSpc>
                <a:spcPct val="100000"/>
              </a:lnSpc>
              <a:spcBef>
                <a:spcPts val="480"/>
              </a:spcBef>
            </a:pPr>
            <a:r>
              <a:rPr dirty="0" sz="2450" b="1">
                <a:solidFill>
                  <a:srgbClr val="F7F7F7"/>
                </a:solidFill>
                <a:latin typeface="Trebuchet MS"/>
                <a:cs typeface="Trebuchet MS"/>
              </a:rPr>
              <a:t>Calls</a:t>
            </a:r>
            <a:r>
              <a:rPr dirty="0" sz="2450" spc="-180" b="1">
                <a:solidFill>
                  <a:srgbClr val="F7F7F7"/>
                </a:solidFill>
                <a:latin typeface="Trebuchet MS"/>
                <a:cs typeface="Trebuchet MS"/>
              </a:rPr>
              <a:t> </a:t>
            </a:r>
            <a:r>
              <a:rPr dirty="0" sz="2450" spc="-85" b="1">
                <a:solidFill>
                  <a:srgbClr val="F7F7F7"/>
                </a:solidFill>
                <a:latin typeface="Trebuchet MS"/>
                <a:cs typeface="Trebuchet MS"/>
              </a:rPr>
              <a:t>Connection</a:t>
            </a:r>
            <a:r>
              <a:rPr dirty="0" sz="2450" spc="-175" b="1">
                <a:solidFill>
                  <a:srgbClr val="F7F7F7"/>
                </a:solidFill>
                <a:latin typeface="Trebuchet MS"/>
                <a:cs typeface="Trebuchet MS"/>
              </a:rPr>
              <a:t> </a:t>
            </a:r>
            <a:r>
              <a:rPr dirty="0" sz="2450" spc="-20" b="1">
                <a:solidFill>
                  <a:srgbClr val="F7F7F7"/>
                </a:solidFill>
                <a:latin typeface="Trebuchet MS"/>
                <a:cs typeface="Trebuchet MS"/>
              </a:rPr>
              <a:t>Rate</a:t>
            </a:r>
            <a:endParaRPr sz="24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31040" y="4533101"/>
            <a:ext cx="3330575" cy="81089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950">
                <a:solidFill>
                  <a:srgbClr val="F7F7F7"/>
                </a:solidFill>
                <a:latin typeface="Roboto"/>
                <a:cs typeface="Roboto"/>
              </a:rPr>
              <a:t>12</a:t>
            </a:r>
            <a:r>
              <a:rPr dirty="0" sz="1950" spc="-8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1950" spc="-30">
                <a:solidFill>
                  <a:srgbClr val="F7F7F7"/>
                </a:solidFill>
                <a:latin typeface="Roboto"/>
                <a:cs typeface="Roboto"/>
              </a:rPr>
              <a:t>connected</a:t>
            </a:r>
            <a:r>
              <a:rPr dirty="0" sz="1950" spc="-8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1950">
                <a:solidFill>
                  <a:srgbClr val="F7F7F7"/>
                </a:solidFill>
                <a:latin typeface="Roboto"/>
                <a:cs typeface="Roboto"/>
              </a:rPr>
              <a:t>/</a:t>
            </a:r>
            <a:r>
              <a:rPr dirty="0" sz="1950" spc="-8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1950">
                <a:solidFill>
                  <a:srgbClr val="F7F7F7"/>
                </a:solidFill>
                <a:latin typeface="Roboto"/>
                <a:cs typeface="Roboto"/>
              </a:rPr>
              <a:t>16</a:t>
            </a:r>
            <a:r>
              <a:rPr dirty="0" sz="1950" spc="-8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1950" spc="-30">
                <a:solidFill>
                  <a:srgbClr val="F7F7F7"/>
                </a:solidFill>
                <a:latin typeface="Roboto"/>
                <a:cs typeface="Roboto"/>
              </a:rPr>
              <a:t>nonnull</a:t>
            </a:r>
            <a:r>
              <a:rPr dirty="0" sz="1950" spc="-8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1950" spc="-20">
                <a:solidFill>
                  <a:srgbClr val="F7F7F7"/>
                </a:solidFill>
                <a:latin typeface="Roboto"/>
                <a:cs typeface="Roboto"/>
              </a:rPr>
              <a:t>dias</a:t>
            </a:r>
            <a:endParaRPr sz="19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950">
                <a:solidFill>
                  <a:srgbClr val="F7F7F7"/>
                </a:solidFill>
                <a:latin typeface="Roboto"/>
                <a:cs typeface="Roboto"/>
              </a:rPr>
              <a:t>14</a:t>
            </a:r>
            <a:r>
              <a:rPr dirty="0" sz="1950" spc="-9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1950" spc="-25">
                <a:solidFill>
                  <a:srgbClr val="F7F7F7"/>
                </a:solidFill>
                <a:latin typeface="Roboto"/>
                <a:cs typeface="Roboto"/>
              </a:rPr>
              <a:t>nulls</a:t>
            </a:r>
            <a:r>
              <a:rPr dirty="0" sz="1950" spc="-9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1950" spc="-10">
                <a:solidFill>
                  <a:srgbClr val="F7F7F7"/>
                </a:solidFill>
                <a:latin typeface="Roboto"/>
                <a:cs typeface="Roboto"/>
              </a:rPr>
              <a:t>segregated</a:t>
            </a:r>
            <a:endParaRPr sz="1950">
              <a:latin typeface="Roboto"/>
              <a:cs typeface="Roboto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716000" y="2339445"/>
            <a:ext cx="85724" cy="353377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4100781" y="2320707"/>
            <a:ext cx="3069590" cy="3169920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470"/>
              </a:spcBef>
            </a:pPr>
            <a:r>
              <a:rPr dirty="0" sz="7500" spc="-25" b="1">
                <a:solidFill>
                  <a:srgbClr val="49BEF7"/>
                </a:solidFill>
                <a:latin typeface="Trebuchet MS"/>
                <a:cs typeface="Trebuchet MS"/>
              </a:rPr>
              <a:t>10</a:t>
            </a:r>
            <a:endParaRPr sz="7500">
              <a:latin typeface="Trebuchet MS"/>
              <a:cs typeface="Trebuchet MS"/>
            </a:endParaRPr>
          </a:p>
          <a:p>
            <a:pPr marL="17145">
              <a:lnSpc>
                <a:spcPct val="100000"/>
              </a:lnSpc>
              <a:spcBef>
                <a:spcPts val="480"/>
              </a:spcBef>
            </a:pPr>
            <a:r>
              <a:rPr dirty="0" sz="2450" spc="-90" b="1">
                <a:solidFill>
                  <a:srgbClr val="F7F7F7"/>
                </a:solidFill>
                <a:latin typeface="Trebuchet MS"/>
                <a:cs typeface="Trebuchet MS"/>
              </a:rPr>
              <a:t>Governance</a:t>
            </a:r>
            <a:r>
              <a:rPr dirty="0" sz="2450" spc="-150" b="1">
                <a:solidFill>
                  <a:srgbClr val="F7F7F7"/>
                </a:solidFill>
                <a:latin typeface="Trebuchet MS"/>
                <a:cs typeface="Trebuchet MS"/>
              </a:rPr>
              <a:t> </a:t>
            </a:r>
            <a:r>
              <a:rPr dirty="0" sz="2450" spc="-20" b="1">
                <a:solidFill>
                  <a:srgbClr val="F7F7F7"/>
                </a:solidFill>
                <a:latin typeface="Trebuchet MS"/>
                <a:cs typeface="Trebuchet MS"/>
              </a:rPr>
              <a:t>Queue</a:t>
            </a:r>
            <a:endParaRPr sz="2450">
              <a:latin typeface="Trebuchet MS"/>
              <a:cs typeface="Trebuchet MS"/>
            </a:endParaRPr>
          </a:p>
          <a:p>
            <a:pPr marL="33020">
              <a:lnSpc>
                <a:spcPct val="100000"/>
              </a:lnSpc>
              <a:spcBef>
                <a:spcPts val="2230"/>
              </a:spcBef>
            </a:pPr>
            <a:r>
              <a:rPr dirty="0" sz="2250" spc="-10" b="1">
                <a:solidFill>
                  <a:srgbClr val="F7F7F7"/>
                </a:solidFill>
                <a:latin typeface="Trebuchet MS"/>
                <a:cs typeface="Trebuchet MS"/>
              </a:rPr>
              <a:t>Records</a:t>
            </a:r>
            <a:endParaRPr sz="2250">
              <a:latin typeface="Trebuchet MS"/>
              <a:cs typeface="Trebuchet MS"/>
            </a:endParaRPr>
          </a:p>
          <a:p>
            <a:pPr marL="12700" marR="5080">
              <a:lnSpc>
                <a:spcPct val="102800"/>
              </a:lnSpc>
              <a:spcBef>
                <a:spcPts val="975"/>
              </a:spcBef>
            </a:pP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Flagged</a:t>
            </a:r>
            <a:r>
              <a:rPr dirty="0" sz="2050" spc="-7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for</a:t>
            </a:r>
            <a:r>
              <a:rPr dirty="0" sz="2050" spc="-6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7F7F7"/>
                </a:solidFill>
                <a:latin typeface="Roboto"/>
                <a:cs typeface="Roboto"/>
              </a:rPr>
              <a:t>manager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inspection</a:t>
            </a:r>
            <a:r>
              <a:rPr dirty="0" sz="2050" spc="-6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30">
                <a:solidFill>
                  <a:srgbClr val="F7F7F7"/>
                </a:solidFill>
                <a:latin typeface="Roboto"/>
                <a:cs typeface="Roboto"/>
              </a:rPr>
              <a:t>or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human</a:t>
            </a:r>
            <a:r>
              <a:rPr dirty="0" sz="2050" spc="-6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30">
                <a:solidFill>
                  <a:srgbClr val="F7F7F7"/>
                </a:solidFill>
                <a:latin typeface="Roboto"/>
                <a:cs typeface="Roboto"/>
              </a:rPr>
              <a:t>review</a:t>
            </a:r>
            <a:endParaRPr sz="205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89081" y="6220300"/>
            <a:ext cx="16935450" cy="3790950"/>
            <a:chOff x="689081" y="6220300"/>
            <a:chExt cx="16935450" cy="379095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9081" y="6220300"/>
              <a:ext cx="16935449" cy="37909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1904" y="6745035"/>
              <a:ext cx="85724" cy="7619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402626" y="6663154"/>
            <a:ext cx="3040380" cy="85661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270"/>
              </a:spcBef>
            </a:pPr>
            <a:r>
              <a:rPr dirty="0" sz="2750" spc="-10" b="1">
                <a:solidFill>
                  <a:srgbClr val="49BEF7"/>
                </a:solidFill>
                <a:latin typeface="Trebuchet MS"/>
                <a:cs typeface="Trebuchet MS"/>
              </a:rPr>
              <a:t>METHODOLOGICAL GUARDRAILS</a:t>
            </a:r>
            <a:endParaRPr sz="2750">
              <a:latin typeface="Trebuchet MS"/>
              <a:cs typeface="Trebuchet MS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250143" y="6493600"/>
            <a:ext cx="28574" cy="326707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611721" y="6563665"/>
            <a:ext cx="10612120" cy="315912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6510" marR="419100">
              <a:lnSpc>
                <a:spcPct val="102800"/>
              </a:lnSpc>
              <a:spcBef>
                <a:spcPts val="25"/>
              </a:spcBef>
            </a:pPr>
            <a:r>
              <a:rPr dirty="0" sz="2050" spc="-85" b="1">
                <a:solidFill>
                  <a:srgbClr val="49BEF7"/>
                </a:solidFill>
                <a:latin typeface="Trebuchet MS"/>
                <a:cs typeface="Trebuchet MS"/>
              </a:rPr>
              <a:t>Strict</a:t>
            </a:r>
            <a:r>
              <a:rPr dirty="0" sz="2050" spc="-160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050" spc="-60" b="1">
                <a:solidFill>
                  <a:srgbClr val="49BEF7"/>
                </a:solidFill>
                <a:latin typeface="Trebuchet MS"/>
                <a:cs typeface="Trebuchet MS"/>
              </a:rPr>
              <a:t>Coverage</a:t>
            </a:r>
            <a:r>
              <a:rPr dirty="0" sz="2050" spc="-160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050" spc="-110" b="1">
                <a:solidFill>
                  <a:srgbClr val="49BEF7"/>
                </a:solidFill>
                <a:latin typeface="Trebuchet MS"/>
                <a:cs typeface="Trebuchet MS"/>
              </a:rPr>
              <a:t>Denominator:</a:t>
            </a:r>
            <a:r>
              <a:rPr dirty="0" sz="2050" spc="-160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Calculated over </a:t>
            </a:r>
            <a:r>
              <a:rPr dirty="0" sz="2050" spc="-35">
                <a:solidFill>
                  <a:srgbClr val="F7F7F7"/>
                </a:solidFill>
                <a:latin typeface="Roboto"/>
                <a:cs typeface="Roboto"/>
              </a:rPr>
              <a:t>all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30">
                <a:solidFill>
                  <a:srgbClr val="F7F7F7"/>
                </a:solidFill>
                <a:latin typeface="Roboto"/>
                <a:cs typeface="Roboto"/>
              </a:rPr>
              <a:t>44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records.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Zero-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turn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meetings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(M05, </a:t>
            </a:r>
            <a:r>
              <a:rPr dirty="0" sz="2050" spc="-20">
                <a:solidFill>
                  <a:srgbClr val="F7F7F7"/>
                </a:solidFill>
                <a:latin typeface="Roboto"/>
                <a:cs typeface="Roboto"/>
              </a:rPr>
              <a:t>M08,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M11)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40">
                <a:solidFill>
                  <a:srgbClr val="F7F7F7"/>
                </a:solidFill>
                <a:latin typeface="Roboto"/>
                <a:cs typeface="Roboto"/>
              </a:rPr>
              <a:t>are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recorded</a:t>
            </a:r>
            <a:r>
              <a:rPr dirty="0" sz="2050" spc="-6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meetings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where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nobody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spoke; 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not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connector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7F7F7"/>
                </a:solidFill>
                <a:latin typeface="Roboto"/>
                <a:cs typeface="Roboto"/>
              </a:rPr>
              <a:t>failures.</a:t>
            </a:r>
            <a:endParaRPr sz="2050">
              <a:latin typeface="Roboto"/>
              <a:cs typeface="Roboto"/>
            </a:endParaRPr>
          </a:p>
          <a:p>
            <a:pPr marL="12700" marR="5080">
              <a:lnSpc>
                <a:spcPct val="102800"/>
              </a:lnSpc>
              <a:spcBef>
                <a:spcPts val="1465"/>
              </a:spcBef>
            </a:pPr>
            <a:r>
              <a:rPr dirty="0" sz="2050" spc="-90" b="1">
                <a:solidFill>
                  <a:srgbClr val="49BEF7"/>
                </a:solidFill>
                <a:latin typeface="Trebuchet MS"/>
                <a:cs typeface="Trebuchet MS"/>
              </a:rPr>
              <a:t>Connection</a:t>
            </a:r>
            <a:r>
              <a:rPr dirty="0" sz="2050" spc="-160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050" spc="-75" b="1">
                <a:solidFill>
                  <a:srgbClr val="49BEF7"/>
                </a:solidFill>
                <a:latin typeface="Trebuchet MS"/>
                <a:cs typeface="Trebuchet MS"/>
              </a:rPr>
              <a:t>Rate</a:t>
            </a:r>
            <a:r>
              <a:rPr dirty="0" sz="2050" spc="-155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050" spc="-114" b="1">
                <a:solidFill>
                  <a:srgbClr val="49BEF7"/>
                </a:solidFill>
                <a:latin typeface="Trebuchet MS"/>
                <a:cs typeface="Trebuchet MS"/>
              </a:rPr>
              <a:t>Integrity:</a:t>
            </a:r>
            <a:r>
              <a:rPr dirty="0" sz="2050" spc="-155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Only</a:t>
            </a:r>
            <a:r>
              <a:rPr dirty="0" sz="2050" spc="-4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nonnull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isconnected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boolean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values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included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30">
                <a:solidFill>
                  <a:srgbClr val="F7F7F7"/>
                </a:solidFill>
                <a:latin typeface="Roboto"/>
                <a:cs typeface="Roboto"/>
              </a:rPr>
              <a:t>in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denominator;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25">
                <a:solidFill>
                  <a:srgbClr val="F7F7F7"/>
                </a:solidFill>
                <a:latin typeface="Roboto"/>
                <a:cs typeface="Roboto"/>
              </a:rPr>
              <a:t>14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unknownnull</a:t>
            </a:r>
            <a:r>
              <a:rPr dirty="0" sz="2050" spc="-7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records</a:t>
            </a:r>
            <a:r>
              <a:rPr dirty="0" sz="2050" spc="-7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reported</a:t>
            </a:r>
            <a:r>
              <a:rPr dirty="0" sz="2050" spc="-7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7F7F7"/>
                </a:solidFill>
                <a:latin typeface="Roboto"/>
                <a:cs typeface="Roboto"/>
              </a:rPr>
              <a:t>separately.</a:t>
            </a:r>
            <a:endParaRPr sz="2050">
              <a:latin typeface="Roboto"/>
              <a:cs typeface="Roboto"/>
            </a:endParaRPr>
          </a:p>
          <a:p>
            <a:pPr marL="19050" marR="652780">
              <a:lnSpc>
                <a:spcPct val="102800"/>
              </a:lnSpc>
              <a:spcBef>
                <a:spcPts val="1580"/>
              </a:spcBef>
            </a:pPr>
            <a:r>
              <a:rPr dirty="0" sz="2050" spc="-85" b="1">
                <a:solidFill>
                  <a:srgbClr val="49BEF7"/>
                </a:solidFill>
                <a:latin typeface="Trebuchet MS"/>
                <a:cs typeface="Trebuchet MS"/>
              </a:rPr>
              <a:t>Strict</a:t>
            </a:r>
            <a:r>
              <a:rPr dirty="0" sz="2050" spc="-170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050" spc="-65" b="1">
                <a:solidFill>
                  <a:srgbClr val="49BEF7"/>
                </a:solidFill>
                <a:latin typeface="Trebuchet MS"/>
                <a:cs typeface="Trebuchet MS"/>
              </a:rPr>
              <a:t>Role</a:t>
            </a:r>
            <a:r>
              <a:rPr dirty="0" sz="2050" spc="-155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050" spc="-100" b="1">
                <a:solidFill>
                  <a:srgbClr val="49BEF7"/>
                </a:solidFill>
                <a:latin typeface="Trebuchet MS"/>
                <a:cs typeface="Trebuchet MS"/>
              </a:rPr>
              <a:t>Distinction:</a:t>
            </a:r>
            <a:r>
              <a:rPr dirty="0" sz="2050" spc="-155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Telephone 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Call</a:t>
            </a:r>
            <a:r>
              <a:rPr dirty="0" sz="2050" spc="-4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Representatives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(rep_name)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 strictly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separated </a:t>
            </a:r>
            <a:r>
              <a:rPr dirty="0" sz="2050" spc="-20">
                <a:solidFill>
                  <a:srgbClr val="F7F7F7"/>
                </a:solidFill>
                <a:latin typeface="Roboto"/>
                <a:cs typeface="Roboto"/>
              </a:rPr>
              <a:t>from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Meeting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Organisers (organizer_email).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Organisers never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assumed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30">
                <a:solidFill>
                  <a:srgbClr val="F7F7F7"/>
                </a:solidFill>
                <a:latin typeface="Roboto"/>
                <a:cs typeface="Roboto"/>
              </a:rPr>
              <a:t>to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attend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30">
                <a:solidFill>
                  <a:srgbClr val="F7F7F7"/>
                </a:solidFill>
                <a:latin typeface="Roboto"/>
                <a:cs typeface="Roboto"/>
              </a:rPr>
              <a:t>or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close </a:t>
            </a:r>
            <a:r>
              <a:rPr dirty="0" sz="2050" spc="-10">
                <a:solidFill>
                  <a:srgbClr val="F7F7F7"/>
                </a:solidFill>
                <a:latin typeface="Roboto"/>
                <a:cs typeface="Roboto"/>
              </a:rPr>
              <a:t>deals.</a:t>
            </a:r>
            <a:endParaRPr sz="2050">
              <a:latin typeface="Roboto"/>
              <a:cs typeface="Roboto"/>
            </a:endParaRPr>
          </a:p>
          <a:p>
            <a:pPr marL="16510" marR="393700">
              <a:lnSpc>
                <a:spcPct val="102800"/>
              </a:lnSpc>
              <a:spcBef>
                <a:spcPts val="1465"/>
              </a:spcBef>
            </a:pPr>
            <a:r>
              <a:rPr dirty="0" sz="2050" b="1">
                <a:solidFill>
                  <a:srgbClr val="49BEF7"/>
                </a:solidFill>
                <a:latin typeface="Trebuchet MS"/>
                <a:cs typeface="Trebuchet MS"/>
              </a:rPr>
              <a:t>No</a:t>
            </a:r>
            <a:r>
              <a:rPr dirty="0" sz="2050" spc="-165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050" spc="-114" b="1">
                <a:solidFill>
                  <a:srgbClr val="49BEF7"/>
                </a:solidFill>
                <a:latin typeface="Trebuchet MS"/>
                <a:cs typeface="Trebuchet MS"/>
              </a:rPr>
              <a:t>Inferred</a:t>
            </a:r>
            <a:r>
              <a:rPr dirty="0" sz="2050" spc="-165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050" spc="-80" b="1">
                <a:solidFill>
                  <a:srgbClr val="49BEF7"/>
                </a:solidFill>
                <a:latin typeface="Trebuchet MS"/>
                <a:cs typeface="Trebuchet MS"/>
              </a:rPr>
              <a:t>Outcomes:</a:t>
            </a:r>
            <a:r>
              <a:rPr dirty="0" sz="2050" spc="-165" b="1">
                <a:solidFill>
                  <a:srgbClr val="49BEF7"/>
                </a:solidFill>
                <a:latin typeface="Trebuchet MS"/>
                <a:cs typeface="Trebuchet MS"/>
              </a:rPr>
              <a:t>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Purchase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decisions,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contract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values,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pipeline 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totals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marked</a:t>
            </a:r>
            <a:r>
              <a:rPr dirty="0" sz="2050" spc="-6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7F7F7"/>
                </a:solidFill>
                <a:latin typeface="Roboto"/>
                <a:cs typeface="Roboto"/>
              </a:rPr>
              <a:t>unknown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unless</a:t>
            </a:r>
            <a:r>
              <a:rPr dirty="0" sz="2050" spc="-45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explicitly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confirmed </a:t>
            </a:r>
            <a:r>
              <a:rPr dirty="0" sz="2050" spc="-30">
                <a:solidFill>
                  <a:srgbClr val="F7F7F7"/>
                </a:solidFill>
                <a:latin typeface="Roboto"/>
                <a:cs typeface="Roboto"/>
              </a:rPr>
              <a:t>in</a:t>
            </a:r>
            <a:r>
              <a:rPr dirty="0" sz="2050" spc="-50">
                <a:solidFill>
                  <a:srgbClr val="F7F7F7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7F7F7"/>
                </a:solidFill>
                <a:latin typeface="Roboto"/>
                <a:cs typeface="Roboto"/>
              </a:rPr>
              <a:t>conversation </a:t>
            </a:r>
            <a:r>
              <a:rPr dirty="0" sz="2050" spc="-10">
                <a:solidFill>
                  <a:srgbClr val="F7F7F7"/>
                </a:solidFill>
                <a:latin typeface="Roboto"/>
                <a:cs typeface="Roboto"/>
              </a:rPr>
              <a:t>text.</a:t>
            </a:r>
            <a:endParaRPr sz="20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388476" y="289751"/>
            <a:ext cx="13083540" cy="1483995"/>
          </a:xfrm>
          <a:prstGeom prst="rect"/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5550" spc="-365">
                <a:solidFill>
                  <a:srgbClr val="F4F4F4"/>
                </a:solidFill>
              </a:rPr>
              <a:t>Three</a:t>
            </a:r>
            <a:r>
              <a:rPr dirty="0" sz="5550" spc="-685">
                <a:solidFill>
                  <a:srgbClr val="F4F4F4"/>
                </a:solidFill>
              </a:rPr>
              <a:t> </a:t>
            </a:r>
            <a:r>
              <a:rPr dirty="0" sz="5550">
                <a:solidFill>
                  <a:srgbClr val="F4F4F4"/>
                </a:solidFill>
              </a:rPr>
              <a:t>Most</a:t>
            </a:r>
            <a:r>
              <a:rPr dirty="0" sz="5550" spc="-685">
                <a:solidFill>
                  <a:srgbClr val="F4F4F4"/>
                </a:solidFill>
              </a:rPr>
              <a:t> </a:t>
            </a:r>
            <a:r>
              <a:rPr dirty="0" sz="5550" spc="-345">
                <a:solidFill>
                  <a:srgbClr val="F4F4F4"/>
                </a:solidFill>
              </a:rPr>
              <a:t>Important</a:t>
            </a:r>
            <a:r>
              <a:rPr dirty="0" sz="5550" spc="-685">
                <a:solidFill>
                  <a:srgbClr val="F4F4F4"/>
                </a:solidFill>
              </a:rPr>
              <a:t> </a:t>
            </a:r>
            <a:r>
              <a:rPr dirty="0" sz="5550" spc="-285">
                <a:solidFill>
                  <a:srgbClr val="F4F4F4"/>
                </a:solidFill>
              </a:rPr>
              <a:t>Conversation</a:t>
            </a:r>
            <a:r>
              <a:rPr dirty="0" sz="5550" spc="-685">
                <a:solidFill>
                  <a:srgbClr val="F4F4F4"/>
                </a:solidFill>
              </a:rPr>
              <a:t> </a:t>
            </a:r>
            <a:r>
              <a:rPr dirty="0" sz="5550" spc="-150">
                <a:solidFill>
                  <a:srgbClr val="F4F4F4"/>
                </a:solidFill>
              </a:rPr>
              <a:t>Findings</a:t>
            </a:r>
            <a:endParaRPr sz="5550"/>
          </a:p>
          <a:p>
            <a:pPr marL="227329">
              <a:lnSpc>
                <a:spcPct val="100000"/>
              </a:lnSpc>
              <a:spcBef>
                <a:spcPts val="620"/>
              </a:spcBef>
            </a:pPr>
            <a:r>
              <a:rPr dirty="0" sz="2300" spc="-140">
                <a:solidFill>
                  <a:srgbClr val="F4F4F4"/>
                </a:solidFill>
              </a:rPr>
              <a:t>Evidence-</a:t>
            </a:r>
            <a:r>
              <a:rPr dirty="0" sz="2300" spc="-90">
                <a:solidFill>
                  <a:srgbClr val="F4F4F4"/>
                </a:solidFill>
              </a:rPr>
              <a:t>Backed</a:t>
            </a:r>
            <a:r>
              <a:rPr dirty="0" sz="2300" spc="-210">
                <a:solidFill>
                  <a:srgbClr val="F4F4F4"/>
                </a:solidFill>
              </a:rPr>
              <a:t> </a:t>
            </a:r>
            <a:r>
              <a:rPr dirty="0" sz="2300" spc="-120">
                <a:solidFill>
                  <a:srgbClr val="F4F4F4"/>
                </a:solidFill>
              </a:rPr>
              <a:t>Conversation</a:t>
            </a:r>
            <a:r>
              <a:rPr dirty="0" sz="2300" spc="-204">
                <a:solidFill>
                  <a:srgbClr val="F4F4F4"/>
                </a:solidFill>
              </a:rPr>
              <a:t> </a:t>
            </a:r>
            <a:r>
              <a:rPr dirty="0" sz="2300" spc="-30">
                <a:solidFill>
                  <a:srgbClr val="F4F4F4"/>
                </a:solidFill>
              </a:rPr>
              <a:t>Intelligence</a:t>
            </a:r>
            <a:endParaRPr sz="23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392" y="2120805"/>
            <a:ext cx="2057399" cy="2381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6362" y="2497226"/>
            <a:ext cx="1256665" cy="142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00330">
              <a:lnSpc>
                <a:spcPct val="100000"/>
              </a:lnSpc>
              <a:spcBef>
                <a:spcPts val="120"/>
              </a:spcBef>
            </a:pPr>
            <a:r>
              <a:rPr dirty="0" sz="7100" spc="-25" b="1">
                <a:solidFill>
                  <a:srgbClr val="33A8F0"/>
                </a:solidFill>
                <a:latin typeface="Trebuchet MS"/>
                <a:cs typeface="Trebuchet MS"/>
              </a:rPr>
              <a:t>01</a:t>
            </a:r>
            <a:endParaRPr sz="7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950" spc="-90" b="1">
                <a:solidFill>
                  <a:srgbClr val="F4F4F4"/>
                </a:solidFill>
                <a:latin typeface="Trebuchet MS"/>
                <a:cs typeface="Trebuchet MS"/>
              </a:rPr>
              <a:t>Record</a:t>
            </a:r>
            <a:r>
              <a:rPr dirty="0" sz="1950" spc="-215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1950" spc="-25" b="1">
                <a:solidFill>
                  <a:srgbClr val="F4F4F4"/>
                </a:solidFill>
                <a:latin typeface="Trebuchet MS"/>
                <a:cs typeface="Trebuchet MS"/>
              </a:rPr>
              <a:t>C01</a:t>
            </a:r>
            <a:endParaRPr sz="1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01636" y="2120805"/>
            <a:ext cx="15011399" cy="23717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38587" y="2418745"/>
            <a:ext cx="5619750" cy="1616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80" b="1">
                <a:solidFill>
                  <a:srgbClr val="F4F4F4"/>
                </a:solidFill>
                <a:latin typeface="Trebuchet MS"/>
                <a:cs typeface="Trebuchet MS"/>
              </a:rPr>
              <a:t>Cold</a:t>
            </a:r>
            <a:r>
              <a:rPr dirty="0" sz="2550" spc="-290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90" b="1">
                <a:solidFill>
                  <a:srgbClr val="F4F4F4"/>
                </a:solidFill>
                <a:latin typeface="Trebuchet MS"/>
                <a:cs typeface="Trebuchet MS"/>
              </a:rPr>
              <a:t>Call</a:t>
            </a:r>
            <a:r>
              <a:rPr dirty="0" sz="2550" spc="-290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90" b="1">
                <a:solidFill>
                  <a:srgbClr val="F4F4F4"/>
                </a:solidFill>
                <a:latin typeface="Trebuchet MS"/>
                <a:cs typeface="Trebuchet MS"/>
              </a:rPr>
              <a:t>Resistance</a:t>
            </a:r>
            <a:r>
              <a:rPr dirty="0" sz="2550" spc="-290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195" b="1">
                <a:solidFill>
                  <a:srgbClr val="F4F4F4"/>
                </a:solidFill>
                <a:latin typeface="Trebuchet MS"/>
                <a:cs typeface="Trebuchet MS"/>
              </a:rPr>
              <a:t>with</a:t>
            </a:r>
            <a:r>
              <a:rPr dirty="0" sz="2550" spc="-290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170" b="1">
                <a:solidFill>
                  <a:srgbClr val="F4F4F4"/>
                </a:solidFill>
                <a:latin typeface="Trebuchet MS"/>
                <a:cs typeface="Trebuchet MS"/>
              </a:rPr>
              <a:t>Latent</a:t>
            </a:r>
            <a:r>
              <a:rPr dirty="0" sz="2550" spc="-290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95" b="1">
                <a:solidFill>
                  <a:srgbClr val="F4F4F4"/>
                </a:solidFill>
                <a:latin typeface="Trebuchet MS"/>
                <a:cs typeface="Trebuchet MS"/>
              </a:rPr>
              <a:t>Curiosity</a:t>
            </a:r>
            <a:endParaRPr sz="2550">
              <a:latin typeface="Trebuchet MS"/>
              <a:cs typeface="Trebuchet MS"/>
            </a:endParaRPr>
          </a:p>
          <a:p>
            <a:pPr marL="26670" marR="1487170">
              <a:lnSpc>
                <a:spcPct val="102800"/>
              </a:lnSpc>
              <a:spcBef>
                <a:spcPts val="1850"/>
              </a:spcBef>
            </a:pPr>
            <a:r>
              <a:rPr dirty="0" sz="2050" spc="-155" b="1" i="1">
                <a:solidFill>
                  <a:srgbClr val="33A8F0"/>
                </a:solidFill>
                <a:latin typeface="Gill Sans MT"/>
                <a:cs typeface="Gill Sans MT"/>
              </a:rPr>
              <a:t>“I</a:t>
            </a:r>
            <a:r>
              <a:rPr dirty="0" sz="2050" spc="-204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100" b="1" i="1">
                <a:solidFill>
                  <a:srgbClr val="33A8F0"/>
                </a:solidFill>
                <a:latin typeface="Gill Sans MT"/>
                <a:cs typeface="Gill Sans MT"/>
              </a:rPr>
              <a:t>didn’t</a:t>
            </a:r>
            <a:r>
              <a:rPr dirty="0" sz="2050" spc="-20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b="1" i="1">
                <a:solidFill>
                  <a:srgbClr val="33A8F0"/>
                </a:solidFill>
                <a:latin typeface="Gill Sans MT"/>
                <a:cs typeface="Gill Sans MT"/>
              </a:rPr>
              <a:t>ask</a:t>
            </a:r>
            <a:r>
              <a:rPr dirty="0" sz="2050" spc="-204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70" b="1" i="1">
                <a:solidFill>
                  <a:srgbClr val="33A8F0"/>
                </a:solidFill>
                <a:latin typeface="Gill Sans MT"/>
                <a:cs typeface="Gill Sans MT"/>
              </a:rPr>
              <a:t>for</a:t>
            </a:r>
            <a:r>
              <a:rPr dirty="0" sz="2050" spc="-204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30" b="1" i="1">
                <a:solidFill>
                  <a:srgbClr val="33A8F0"/>
                </a:solidFill>
                <a:latin typeface="Gill Sans MT"/>
                <a:cs typeface="Gill Sans MT"/>
              </a:rPr>
              <a:t>this</a:t>
            </a:r>
            <a:r>
              <a:rPr dirty="0" sz="2050" spc="-20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80" b="1" i="1">
                <a:solidFill>
                  <a:srgbClr val="33A8F0"/>
                </a:solidFill>
                <a:latin typeface="Gill Sans MT"/>
                <a:cs typeface="Gill Sans MT"/>
              </a:rPr>
              <a:t>call,</a:t>
            </a:r>
            <a:r>
              <a:rPr dirty="0" sz="2050" spc="-20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85" b="1" i="1">
                <a:solidFill>
                  <a:srgbClr val="33A8F0"/>
                </a:solidFill>
                <a:latin typeface="Gill Sans MT"/>
                <a:cs typeface="Gill Sans MT"/>
              </a:rPr>
              <a:t>and</a:t>
            </a:r>
            <a:r>
              <a:rPr dirty="0" sz="2050" spc="-21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85" b="1" i="1">
                <a:solidFill>
                  <a:srgbClr val="33A8F0"/>
                </a:solidFill>
                <a:latin typeface="Gill Sans MT"/>
                <a:cs typeface="Gill Sans MT"/>
              </a:rPr>
              <a:t>I’m</a:t>
            </a:r>
            <a:r>
              <a:rPr dirty="0" sz="2050" spc="-204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25" b="1" i="1">
                <a:solidFill>
                  <a:srgbClr val="33A8F0"/>
                </a:solidFill>
                <a:latin typeface="Gill Sans MT"/>
                <a:cs typeface="Gill Sans MT"/>
              </a:rPr>
              <a:t>not </a:t>
            </a:r>
            <a:r>
              <a:rPr dirty="0" sz="2050" spc="-120" b="1" i="1">
                <a:solidFill>
                  <a:srgbClr val="33A8F0"/>
                </a:solidFill>
                <a:latin typeface="Gill Sans MT"/>
                <a:cs typeface="Gill Sans MT"/>
              </a:rPr>
              <a:t>interested…</a:t>
            </a:r>
            <a:r>
              <a:rPr dirty="0" sz="2050" spc="-19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35" b="1" i="1">
                <a:solidFill>
                  <a:srgbClr val="33A8F0"/>
                </a:solidFill>
                <a:latin typeface="Gill Sans MT"/>
                <a:cs typeface="Gill Sans MT"/>
              </a:rPr>
              <a:t>just</a:t>
            </a:r>
            <a:r>
              <a:rPr dirty="0" sz="2050" spc="-18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85" b="1" i="1">
                <a:solidFill>
                  <a:srgbClr val="33A8F0"/>
                </a:solidFill>
                <a:latin typeface="Gill Sans MT"/>
                <a:cs typeface="Gill Sans MT"/>
              </a:rPr>
              <a:t>briefly,</a:t>
            </a:r>
            <a:r>
              <a:rPr dirty="0" sz="2050" spc="-18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120" b="1" i="1">
                <a:solidFill>
                  <a:srgbClr val="33A8F0"/>
                </a:solidFill>
                <a:latin typeface="Gill Sans MT"/>
                <a:cs typeface="Gill Sans MT"/>
              </a:rPr>
              <a:t>what</a:t>
            </a:r>
            <a:r>
              <a:rPr dirty="0" sz="2050" spc="-18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b="1" i="1">
                <a:solidFill>
                  <a:srgbClr val="33A8F0"/>
                </a:solidFill>
                <a:latin typeface="Gill Sans MT"/>
                <a:cs typeface="Gill Sans MT"/>
              </a:rPr>
              <a:t>does</a:t>
            </a:r>
            <a:r>
              <a:rPr dirty="0" sz="2050" spc="-18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40" b="1" i="1">
                <a:solidFill>
                  <a:srgbClr val="33A8F0"/>
                </a:solidFill>
                <a:latin typeface="Gill Sans MT"/>
                <a:cs typeface="Gill Sans MT"/>
              </a:rPr>
              <a:t>your </a:t>
            </a:r>
            <a:r>
              <a:rPr dirty="0" sz="2050" spc="-90" b="1" i="1">
                <a:solidFill>
                  <a:srgbClr val="33A8F0"/>
                </a:solidFill>
                <a:latin typeface="Gill Sans MT"/>
                <a:cs typeface="Gill Sans MT"/>
              </a:rPr>
              <a:t>company</a:t>
            </a:r>
            <a:r>
              <a:rPr dirty="0" sz="2050" spc="-17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100" b="1" i="1">
                <a:solidFill>
                  <a:srgbClr val="33A8F0"/>
                </a:solidFill>
                <a:latin typeface="Gill Sans MT"/>
                <a:cs typeface="Gill Sans MT"/>
              </a:rPr>
              <a:t>actually</a:t>
            </a:r>
            <a:r>
              <a:rPr dirty="0" sz="2050" spc="-16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20" b="1" i="1">
                <a:solidFill>
                  <a:srgbClr val="33A8F0"/>
                </a:solidFill>
                <a:latin typeface="Gill Sans MT"/>
                <a:cs typeface="Gill Sans MT"/>
              </a:rPr>
              <a:t>do?”</a:t>
            </a:r>
            <a:endParaRPr sz="2050">
              <a:latin typeface="Gill Sans MT"/>
              <a:cs typeface="Gill Sans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378354" y="2918840"/>
            <a:ext cx="5006340" cy="1162050"/>
            <a:chOff x="8378354" y="2918840"/>
            <a:chExt cx="5006340" cy="116205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8354" y="2918840"/>
              <a:ext cx="47624" cy="11620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98783" y="3050024"/>
              <a:ext cx="685799" cy="5143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633124" y="2708090"/>
            <a:ext cx="3336925" cy="130175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25"/>
              </a:spcBef>
            </a:pP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Prospect</a:t>
            </a:r>
            <a:r>
              <a:rPr dirty="0" sz="2050" spc="-14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opened</a:t>
            </a:r>
            <a:r>
              <a:rPr dirty="0" sz="2050" spc="-14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75">
                <a:solidFill>
                  <a:srgbClr val="F4F4F4"/>
                </a:solidFill>
                <a:latin typeface="Roboto"/>
                <a:cs typeface="Roboto"/>
              </a:rPr>
              <a:t>with</a:t>
            </a:r>
            <a:r>
              <a:rPr dirty="0" sz="2050" spc="-14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4F4F4"/>
                </a:solidFill>
                <a:latin typeface="Roboto"/>
                <a:cs typeface="Roboto"/>
              </a:rPr>
              <a:t>a</a:t>
            </a:r>
            <a:r>
              <a:rPr dirty="0" sz="2050" spc="-14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4F4F4"/>
                </a:solidFill>
                <a:latin typeface="Roboto"/>
                <a:cs typeface="Roboto"/>
              </a:rPr>
              <a:t>brush-</a:t>
            </a:r>
            <a:r>
              <a:rPr dirty="0" sz="2050" spc="-75">
                <a:solidFill>
                  <a:srgbClr val="F4F4F4"/>
                </a:solidFill>
                <a:latin typeface="Roboto"/>
                <a:cs typeface="Roboto"/>
              </a:rPr>
              <a:t>off</a:t>
            </a:r>
            <a:r>
              <a:rPr dirty="0" sz="2050" spc="-13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70">
                <a:solidFill>
                  <a:srgbClr val="F4F4F4"/>
                </a:solidFill>
                <a:latin typeface="Roboto"/>
                <a:cs typeface="Roboto"/>
              </a:rPr>
              <a:t>but</a:t>
            </a:r>
            <a:r>
              <a:rPr dirty="0" sz="2050" spc="-13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followed</a:t>
            </a:r>
            <a:r>
              <a:rPr dirty="0" sz="2050" spc="-13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20">
                <a:solidFill>
                  <a:srgbClr val="F4F4F4"/>
                </a:solidFill>
                <a:latin typeface="Roboto"/>
                <a:cs typeface="Roboto"/>
              </a:rPr>
              <a:t>with </a:t>
            </a:r>
            <a:r>
              <a:rPr dirty="0" sz="2050" spc="-95">
                <a:solidFill>
                  <a:srgbClr val="F4F4F4"/>
                </a:solidFill>
                <a:latin typeface="Roboto"/>
                <a:cs typeface="Roboto"/>
              </a:rPr>
              <a:t>unprompted</a:t>
            </a:r>
            <a:r>
              <a:rPr dirty="0" sz="2050" spc="-12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inquiry</a:t>
            </a:r>
            <a:r>
              <a:rPr dirty="0" sz="2050" spc="-114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70">
                <a:solidFill>
                  <a:srgbClr val="F4F4F4"/>
                </a:solidFill>
                <a:latin typeface="Roboto"/>
                <a:cs typeface="Roboto"/>
              </a:rPr>
              <a:t>and</a:t>
            </a:r>
            <a:r>
              <a:rPr dirty="0" sz="2050" spc="-12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5">
                <a:solidFill>
                  <a:srgbClr val="F4F4F4"/>
                </a:solidFill>
                <a:latin typeface="Roboto"/>
                <a:cs typeface="Roboto"/>
              </a:rPr>
              <a:t>agreed </a:t>
            </a: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to</a:t>
            </a:r>
            <a:r>
              <a:rPr dirty="0" sz="2050" spc="-14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email</a:t>
            </a:r>
            <a:r>
              <a:rPr dirty="0" sz="2050" spc="-14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4F4F4"/>
                </a:solidFill>
                <a:latin typeface="Roboto"/>
                <a:cs typeface="Roboto"/>
              </a:rPr>
              <a:t>overview.</a:t>
            </a:r>
            <a:endParaRPr sz="205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32616" y="2190739"/>
            <a:ext cx="3101975" cy="1999614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1560"/>
              </a:spcBef>
            </a:pPr>
            <a:r>
              <a:rPr dirty="0" sz="2300" spc="-114" b="1">
                <a:solidFill>
                  <a:srgbClr val="33A8F0"/>
                </a:solidFill>
                <a:latin typeface="Trebuchet MS"/>
                <a:cs typeface="Trebuchet MS"/>
              </a:rPr>
              <a:t>Product</a:t>
            </a:r>
            <a:r>
              <a:rPr dirty="0" sz="2300" spc="-305" b="1">
                <a:solidFill>
                  <a:srgbClr val="33A8F0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3A8F0"/>
                </a:solidFill>
                <a:latin typeface="Trebuchet MS"/>
                <a:cs typeface="Trebuchet MS"/>
              </a:rPr>
              <a:t>Influence</a:t>
            </a:r>
            <a:endParaRPr sz="2300">
              <a:latin typeface="Trebuchet MS"/>
              <a:cs typeface="Trebuchet MS"/>
            </a:endParaRPr>
          </a:p>
          <a:p>
            <a:pPr marL="12700" marR="5080">
              <a:lnSpc>
                <a:spcPct val="102800"/>
              </a:lnSpc>
              <a:spcBef>
                <a:spcPts val="1205"/>
              </a:spcBef>
            </a:pP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Routed</a:t>
            </a:r>
            <a:r>
              <a:rPr dirty="0" sz="2050" spc="-14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to</a:t>
            </a:r>
            <a:r>
              <a:rPr dirty="0" sz="2050" spc="-14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80">
                <a:solidFill>
                  <a:srgbClr val="F4F4F4"/>
                </a:solidFill>
                <a:latin typeface="Roboto"/>
                <a:cs typeface="Roboto"/>
              </a:rPr>
              <a:t>Sales</a:t>
            </a:r>
            <a:r>
              <a:rPr dirty="0" sz="2050" spc="-14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4F4F4"/>
                </a:solidFill>
                <a:latin typeface="Roboto"/>
                <a:cs typeface="Roboto"/>
              </a:rPr>
              <a:t>Coaching;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generated</a:t>
            </a:r>
            <a:r>
              <a:rPr dirty="0" sz="2050" spc="-5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0">
                <a:solidFill>
                  <a:srgbClr val="F4F4F4"/>
                </a:solidFill>
                <a:latin typeface="Roboto"/>
                <a:cs typeface="Roboto"/>
              </a:rPr>
              <a:t>objection-</a:t>
            </a:r>
            <a:r>
              <a:rPr dirty="0" sz="2050" spc="-70">
                <a:solidFill>
                  <a:srgbClr val="F4F4F4"/>
                </a:solidFill>
                <a:latin typeface="Roboto"/>
                <a:cs typeface="Roboto"/>
              </a:rPr>
              <a:t>handling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coaching</a:t>
            </a:r>
            <a:r>
              <a:rPr dirty="0" sz="2050" spc="-12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75">
                <a:solidFill>
                  <a:srgbClr val="F4F4F4"/>
                </a:solidFill>
                <a:latin typeface="Roboto"/>
                <a:cs typeface="Roboto"/>
              </a:rPr>
              <a:t>card</a:t>
            </a:r>
            <a:r>
              <a:rPr dirty="0" sz="2050" spc="-12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focusing</a:t>
            </a:r>
            <a:r>
              <a:rPr dirty="0" sz="2050" spc="-12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25">
                <a:solidFill>
                  <a:srgbClr val="F4F4F4"/>
                </a:solidFill>
                <a:latin typeface="Roboto"/>
                <a:cs typeface="Roboto"/>
              </a:rPr>
              <a:t>on </a:t>
            </a:r>
            <a:r>
              <a:rPr dirty="0" sz="2050" spc="-100">
                <a:solidFill>
                  <a:srgbClr val="F4F4F4"/>
                </a:solidFill>
                <a:latin typeface="Roboto"/>
                <a:cs typeface="Roboto"/>
              </a:rPr>
              <a:t>10-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second</a:t>
            </a:r>
            <a:r>
              <a:rPr dirty="0" sz="2050" spc="-10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elevator</a:t>
            </a:r>
            <a:r>
              <a:rPr dirty="0" sz="2050" spc="-9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20">
                <a:solidFill>
                  <a:srgbClr val="F4F4F4"/>
                </a:solidFill>
                <a:latin typeface="Roboto"/>
                <a:cs typeface="Roboto"/>
              </a:rPr>
              <a:t>hook.</a:t>
            </a:r>
            <a:endParaRPr sz="205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4392" y="4646094"/>
            <a:ext cx="17078960" cy="2392680"/>
            <a:chOff x="634392" y="4646094"/>
            <a:chExt cx="17078960" cy="239268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4392" y="4646094"/>
              <a:ext cx="2066924" cy="23907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01636" y="4657026"/>
              <a:ext cx="15011399" cy="238125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046362" y="4921273"/>
            <a:ext cx="1256665" cy="154876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00330">
              <a:lnSpc>
                <a:spcPct val="100000"/>
              </a:lnSpc>
              <a:spcBef>
                <a:spcPts val="955"/>
              </a:spcBef>
            </a:pPr>
            <a:r>
              <a:rPr dirty="0" sz="7100" spc="-25" b="1">
                <a:solidFill>
                  <a:srgbClr val="33A8F0"/>
                </a:solidFill>
                <a:latin typeface="Trebuchet MS"/>
                <a:cs typeface="Trebuchet MS"/>
              </a:rPr>
              <a:t>02</a:t>
            </a:r>
            <a:endParaRPr sz="7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950" spc="-90" b="1">
                <a:solidFill>
                  <a:srgbClr val="F4F4F4"/>
                </a:solidFill>
                <a:latin typeface="Trebuchet MS"/>
                <a:cs typeface="Trebuchet MS"/>
              </a:rPr>
              <a:t>Record</a:t>
            </a:r>
            <a:r>
              <a:rPr dirty="0" sz="1950" spc="-215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1950" spc="-25" b="1">
                <a:solidFill>
                  <a:srgbClr val="F4F4F4"/>
                </a:solidFill>
                <a:latin typeface="Trebuchet MS"/>
                <a:cs typeface="Trebuchet MS"/>
              </a:rPr>
              <a:t>C03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47590" y="4843540"/>
            <a:ext cx="4645660" cy="193230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2860" marR="1008380">
              <a:lnSpc>
                <a:spcPts val="2950"/>
              </a:lnSpc>
              <a:spcBef>
                <a:spcPts val="310"/>
              </a:spcBef>
            </a:pPr>
            <a:r>
              <a:rPr dirty="0" sz="2550" spc="-80" b="1">
                <a:solidFill>
                  <a:srgbClr val="F4F4F4"/>
                </a:solidFill>
                <a:latin typeface="Trebuchet MS"/>
                <a:cs typeface="Trebuchet MS"/>
              </a:rPr>
              <a:t>High-</a:t>
            </a:r>
            <a:r>
              <a:rPr dirty="0" sz="2550" spc="-170" b="1">
                <a:solidFill>
                  <a:srgbClr val="F4F4F4"/>
                </a:solidFill>
                <a:latin typeface="Trebuchet MS"/>
                <a:cs typeface="Trebuchet MS"/>
              </a:rPr>
              <a:t>Intent</a:t>
            </a:r>
            <a:r>
              <a:rPr dirty="0" sz="2550" spc="-305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b="1">
                <a:solidFill>
                  <a:srgbClr val="F4F4F4"/>
                </a:solidFill>
                <a:latin typeface="Trebuchet MS"/>
                <a:cs typeface="Trebuchet MS"/>
              </a:rPr>
              <a:t>ERP</a:t>
            </a:r>
            <a:r>
              <a:rPr dirty="0" sz="2550" spc="-300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145" b="1">
                <a:solidFill>
                  <a:srgbClr val="F4F4F4"/>
                </a:solidFill>
                <a:latin typeface="Trebuchet MS"/>
                <a:cs typeface="Trebuchet MS"/>
              </a:rPr>
              <a:t>Developer </a:t>
            </a:r>
            <a:r>
              <a:rPr dirty="0" sz="2550" b="1">
                <a:solidFill>
                  <a:srgbClr val="F4F4F4"/>
                </a:solidFill>
                <a:latin typeface="Trebuchet MS"/>
                <a:cs typeface="Trebuchet MS"/>
              </a:rPr>
              <a:t>API</a:t>
            </a:r>
            <a:r>
              <a:rPr dirty="0" sz="2550" spc="-250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70" b="1">
                <a:solidFill>
                  <a:srgbClr val="F4F4F4"/>
                </a:solidFill>
                <a:latin typeface="Trebuchet MS"/>
                <a:cs typeface="Trebuchet MS"/>
              </a:rPr>
              <a:t>Qualification</a:t>
            </a:r>
            <a:endParaRPr sz="2550">
              <a:latin typeface="Trebuchet MS"/>
              <a:cs typeface="Trebuchet MS"/>
            </a:endParaRPr>
          </a:p>
          <a:p>
            <a:pPr marL="12700" marR="5080">
              <a:lnSpc>
                <a:spcPct val="102800"/>
              </a:lnSpc>
              <a:spcBef>
                <a:spcPts val="1310"/>
              </a:spcBef>
            </a:pPr>
            <a:r>
              <a:rPr dirty="0" sz="2050" spc="-135" b="1" i="1">
                <a:solidFill>
                  <a:srgbClr val="33A8F0"/>
                </a:solidFill>
                <a:latin typeface="Gill Sans MT"/>
                <a:cs typeface="Gill Sans MT"/>
              </a:rPr>
              <a:t>“Could</a:t>
            </a:r>
            <a:r>
              <a:rPr dirty="0" sz="2050" spc="-21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55" b="1" i="1">
                <a:solidFill>
                  <a:srgbClr val="33A8F0"/>
                </a:solidFill>
                <a:latin typeface="Gill Sans MT"/>
                <a:cs typeface="Gill Sans MT"/>
              </a:rPr>
              <a:t>we</a:t>
            </a:r>
            <a:r>
              <a:rPr dirty="0" sz="2050" spc="-21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55" b="1" i="1">
                <a:solidFill>
                  <a:srgbClr val="33A8F0"/>
                </a:solidFill>
                <a:latin typeface="Gill Sans MT"/>
                <a:cs typeface="Gill Sans MT"/>
              </a:rPr>
              <a:t>do</a:t>
            </a:r>
            <a:r>
              <a:rPr dirty="0" sz="2050" spc="-21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30" b="1" i="1">
                <a:solidFill>
                  <a:srgbClr val="33A8F0"/>
                </a:solidFill>
                <a:latin typeface="Gill Sans MT"/>
                <a:cs typeface="Gill Sans MT"/>
              </a:rPr>
              <a:t>this</a:t>
            </a:r>
            <a:r>
              <a:rPr dirty="0" sz="2050" spc="-20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45" b="1" i="1">
                <a:solidFill>
                  <a:srgbClr val="33A8F0"/>
                </a:solidFill>
                <a:latin typeface="Gill Sans MT"/>
                <a:cs typeface="Gill Sans MT"/>
              </a:rPr>
              <a:t>by</a:t>
            </a:r>
            <a:r>
              <a:rPr dirty="0" sz="2050" spc="-204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25" b="1" i="1">
                <a:solidFill>
                  <a:srgbClr val="33A8F0"/>
                </a:solidFill>
                <a:latin typeface="Gill Sans MT"/>
                <a:cs typeface="Gill Sans MT"/>
              </a:rPr>
              <a:t>email?</a:t>
            </a:r>
            <a:r>
              <a:rPr dirty="0" sz="2050" spc="-204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225" b="1" i="1">
                <a:solidFill>
                  <a:srgbClr val="33A8F0"/>
                </a:solidFill>
                <a:latin typeface="Gill Sans MT"/>
                <a:cs typeface="Gill Sans MT"/>
              </a:rPr>
              <a:t>Or</a:t>
            </a:r>
            <a:r>
              <a:rPr dirty="0" sz="2050" spc="-20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70" b="1" i="1">
                <a:solidFill>
                  <a:srgbClr val="33A8F0"/>
                </a:solidFill>
                <a:latin typeface="Gill Sans MT"/>
                <a:cs typeface="Gill Sans MT"/>
              </a:rPr>
              <a:t>call</a:t>
            </a:r>
            <a:r>
              <a:rPr dirty="0" sz="2050" spc="-204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25" b="1" i="1">
                <a:solidFill>
                  <a:srgbClr val="33A8F0"/>
                </a:solidFill>
                <a:latin typeface="Gill Sans MT"/>
                <a:cs typeface="Gill Sans MT"/>
              </a:rPr>
              <a:t>on </a:t>
            </a:r>
            <a:r>
              <a:rPr dirty="0" sz="2050" spc="-204" b="1" i="1">
                <a:solidFill>
                  <a:srgbClr val="33A8F0"/>
                </a:solidFill>
                <a:latin typeface="Gill Sans MT"/>
                <a:cs typeface="Gill Sans MT"/>
              </a:rPr>
              <a:t>Monday…</a:t>
            </a:r>
            <a:r>
              <a:rPr dirty="0" sz="2050" spc="-18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55" b="1" i="1">
                <a:solidFill>
                  <a:srgbClr val="33A8F0"/>
                </a:solidFill>
                <a:latin typeface="Gill Sans MT"/>
                <a:cs typeface="Gill Sans MT"/>
              </a:rPr>
              <a:t>Something</a:t>
            </a:r>
            <a:r>
              <a:rPr dirty="0" sz="2050" spc="-18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60" b="1" i="1">
                <a:solidFill>
                  <a:srgbClr val="33A8F0"/>
                </a:solidFill>
                <a:latin typeface="Gill Sans MT"/>
                <a:cs typeface="Gill Sans MT"/>
              </a:rPr>
              <a:t>like</a:t>
            </a:r>
            <a:r>
              <a:rPr dirty="0" sz="2050" spc="-18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110" b="1" i="1">
                <a:solidFill>
                  <a:srgbClr val="33A8F0"/>
                </a:solidFill>
                <a:latin typeface="Gill Sans MT"/>
                <a:cs typeface="Gill Sans MT"/>
              </a:rPr>
              <a:t>‘Developer</a:t>
            </a:r>
            <a:r>
              <a:rPr dirty="0" sz="2050" spc="-17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10" b="1" i="1">
                <a:solidFill>
                  <a:srgbClr val="33A8F0"/>
                </a:solidFill>
                <a:latin typeface="Gill Sans MT"/>
                <a:cs typeface="Gill Sans MT"/>
              </a:rPr>
              <a:t>access </a:t>
            </a:r>
            <a:r>
              <a:rPr dirty="0" sz="2050" spc="-85" b="1" i="1">
                <a:solidFill>
                  <a:srgbClr val="33A8F0"/>
                </a:solidFill>
                <a:latin typeface="Gill Sans MT"/>
                <a:cs typeface="Gill Sans MT"/>
              </a:rPr>
              <a:t>and</a:t>
            </a:r>
            <a:r>
              <a:rPr dirty="0" sz="2050" spc="-19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65" b="1" i="1">
                <a:solidFill>
                  <a:srgbClr val="33A8F0"/>
                </a:solidFill>
                <a:latin typeface="Gill Sans MT"/>
                <a:cs typeface="Gill Sans MT"/>
              </a:rPr>
              <a:t>event</a:t>
            </a:r>
            <a:r>
              <a:rPr dirty="0" sz="2050" spc="-18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80" b="1" i="1">
                <a:solidFill>
                  <a:srgbClr val="33A8F0"/>
                </a:solidFill>
                <a:latin typeface="Gill Sans MT"/>
                <a:cs typeface="Gill Sans MT"/>
              </a:rPr>
              <a:t>notifications</a:t>
            </a:r>
            <a:r>
              <a:rPr dirty="0" sz="2050" spc="-18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235" b="1" i="1">
                <a:solidFill>
                  <a:srgbClr val="33A8F0"/>
                </a:solidFill>
                <a:latin typeface="Gill Sans MT"/>
                <a:cs typeface="Gill Sans MT"/>
              </a:rPr>
              <a:t>–</a:t>
            </a:r>
            <a:r>
              <a:rPr dirty="0" sz="2050" spc="-19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90" b="1" i="1">
                <a:solidFill>
                  <a:srgbClr val="33A8F0"/>
                </a:solidFill>
                <a:latin typeface="Gill Sans MT"/>
                <a:cs typeface="Gill Sans MT"/>
              </a:rPr>
              <a:t>follow-</a:t>
            </a:r>
            <a:r>
              <a:rPr dirty="0" sz="2050" spc="-20" b="1" i="1">
                <a:solidFill>
                  <a:srgbClr val="33A8F0"/>
                </a:solidFill>
                <a:latin typeface="Gill Sans MT"/>
                <a:cs typeface="Gill Sans MT"/>
              </a:rPr>
              <a:t>up’”</a:t>
            </a:r>
            <a:endParaRPr sz="2050">
              <a:latin typeface="Gill Sans MT"/>
              <a:cs typeface="Gill Sans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378354" y="5105237"/>
            <a:ext cx="5006340" cy="1495425"/>
            <a:chOff x="8378354" y="5105237"/>
            <a:chExt cx="5006340" cy="1495425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78354" y="5105237"/>
              <a:ext cx="47624" cy="14954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698783" y="5586245"/>
              <a:ext cx="685799" cy="50482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632328" y="5313615"/>
            <a:ext cx="3415029" cy="9804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algn="just" marL="12700" marR="5080">
              <a:lnSpc>
                <a:spcPct val="102800"/>
              </a:lnSpc>
              <a:spcBef>
                <a:spcPts val="25"/>
              </a:spcBef>
            </a:pPr>
            <a:r>
              <a:rPr dirty="0" sz="2050" spc="-105">
                <a:solidFill>
                  <a:srgbClr val="F4F4F4"/>
                </a:solidFill>
                <a:latin typeface="Roboto"/>
                <a:cs typeface="Roboto"/>
              </a:rPr>
              <a:t>Technical</a:t>
            </a:r>
            <a:r>
              <a:rPr dirty="0" sz="2050" spc="1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5">
                <a:solidFill>
                  <a:srgbClr val="F4F4F4"/>
                </a:solidFill>
                <a:latin typeface="Roboto"/>
                <a:cs typeface="Roboto"/>
              </a:rPr>
              <a:t>lead</a:t>
            </a:r>
            <a:r>
              <a:rPr dirty="0" sz="2050" spc="1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5">
                <a:solidFill>
                  <a:srgbClr val="F4F4F4"/>
                </a:solidFill>
                <a:latin typeface="Roboto"/>
                <a:cs typeface="Roboto"/>
              </a:rPr>
              <a:t>verified</a:t>
            </a:r>
            <a:r>
              <a:rPr dirty="0" sz="2050" spc="1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5">
                <a:solidFill>
                  <a:srgbClr val="F4F4F4"/>
                </a:solidFill>
                <a:latin typeface="Roboto"/>
                <a:cs typeface="Roboto"/>
              </a:rPr>
              <a:t>webhook </a:t>
            </a:r>
            <a:r>
              <a:rPr dirty="0" sz="2050" spc="-100">
                <a:solidFill>
                  <a:srgbClr val="F4F4F4"/>
                </a:solidFill>
                <a:latin typeface="Roboto"/>
                <a:cs typeface="Roboto"/>
              </a:rPr>
              <a:t>requirements</a:t>
            </a:r>
            <a:r>
              <a:rPr dirty="0" sz="205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14">
                <a:solidFill>
                  <a:srgbClr val="F4F4F4"/>
                </a:solidFill>
                <a:latin typeface="Roboto"/>
                <a:cs typeface="Roboto"/>
              </a:rPr>
              <a:t>and</a:t>
            </a:r>
            <a:r>
              <a:rPr dirty="0" sz="2050" spc="1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10">
                <a:solidFill>
                  <a:srgbClr val="F4F4F4"/>
                </a:solidFill>
                <a:latin typeface="Roboto"/>
                <a:cs typeface="Roboto"/>
              </a:rPr>
              <a:t>committed</a:t>
            </a:r>
            <a:r>
              <a:rPr dirty="0" sz="2050" spc="1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35">
                <a:solidFill>
                  <a:srgbClr val="F4F4F4"/>
                </a:solidFill>
                <a:latin typeface="Roboto"/>
                <a:cs typeface="Roboto"/>
              </a:rPr>
              <a:t>to 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Monday</a:t>
            </a:r>
            <a:r>
              <a:rPr dirty="0" sz="2050" spc="-11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calendar</a:t>
            </a:r>
            <a:r>
              <a:rPr dirty="0" sz="2050" spc="-10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30">
                <a:solidFill>
                  <a:srgbClr val="F4F4F4"/>
                </a:solidFill>
                <a:latin typeface="Roboto"/>
                <a:cs typeface="Roboto"/>
              </a:rPr>
              <a:t>appointment.</a:t>
            </a:r>
            <a:endParaRPr sz="205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34868" y="4705899"/>
            <a:ext cx="2881630" cy="1999614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560"/>
              </a:spcBef>
            </a:pPr>
            <a:r>
              <a:rPr dirty="0" sz="2300" spc="-114" b="1">
                <a:solidFill>
                  <a:srgbClr val="33A8F0"/>
                </a:solidFill>
                <a:latin typeface="Trebuchet MS"/>
                <a:cs typeface="Trebuchet MS"/>
              </a:rPr>
              <a:t>Product</a:t>
            </a:r>
            <a:r>
              <a:rPr dirty="0" sz="2300" spc="-305" b="1">
                <a:solidFill>
                  <a:srgbClr val="33A8F0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3A8F0"/>
                </a:solidFill>
                <a:latin typeface="Trebuchet MS"/>
                <a:cs typeface="Trebuchet MS"/>
              </a:rPr>
              <a:t>Influence</a:t>
            </a:r>
            <a:endParaRPr sz="2300">
              <a:latin typeface="Trebuchet MS"/>
              <a:cs typeface="Trebuchet MS"/>
            </a:endParaRPr>
          </a:p>
          <a:p>
            <a:pPr marL="12700" marR="5080">
              <a:lnSpc>
                <a:spcPct val="102800"/>
              </a:lnSpc>
              <a:spcBef>
                <a:spcPts val="1205"/>
              </a:spcBef>
            </a:pP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Routed</a:t>
            </a:r>
            <a:r>
              <a:rPr dirty="0" sz="2050" spc="-12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to</a:t>
            </a:r>
            <a:r>
              <a:rPr dirty="0" sz="2050" spc="-12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80">
                <a:solidFill>
                  <a:srgbClr val="F4F4F4"/>
                </a:solidFill>
                <a:latin typeface="Roboto"/>
                <a:cs typeface="Roboto"/>
              </a:rPr>
              <a:t>Deal</a:t>
            </a:r>
            <a:r>
              <a:rPr dirty="0" sz="2050" spc="-114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0">
                <a:solidFill>
                  <a:srgbClr val="F4F4F4"/>
                </a:solidFill>
                <a:latin typeface="Roboto"/>
                <a:cs typeface="Roboto"/>
              </a:rPr>
              <a:t>Follow-</a:t>
            </a:r>
            <a:r>
              <a:rPr dirty="0" sz="2050" spc="-25">
                <a:solidFill>
                  <a:srgbClr val="F4F4F4"/>
                </a:solidFill>
                <a:latin typeface="Roboto"/>
                <a:cs typeface="Roboto"/>
              </a:rPr>
              <a:t>up; 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elevated</a:t>
            </a:r>
            <a:r>
              <a:rPr dirty="0" sz="2050" spc="-15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to</a:t>
            </a:r>
            <a:r>
              <a:rPr dirty="0" sz="2050" spc="-14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#1</a:t>
            </a:r>
            <a:r>
              <a:rPr dirty="0" sz="2050" spc="-15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80">
                <a:solidFill>
                  <a:srgbClr val="F4F4F4"/>
                </a:solidFill>
                <a:latin typeface="Roboto"/>
                <a:cs typeface="Roboto"/>
              </a:rPr>
              <a:t>spot</a:t>
            </a:r>
            <a:r>
              <a:rPr dirty="0" sz="2050" spc="-14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25">
                <a:solidFill>
                  <a:srgbClr val="F4F4F4"/>
                </a:solidFill>
                <a:latin typeface="Roboto"/>
                <a:cs typeface="Roboto"/>
              </a:rPr>
              <a:t>on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Dashboard’s</a:t>
            </a:r>
            <a:r>
              <a:rPr dirty="0" sz="2050" spc="-7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0">
                <a:solidFill>
                  <a:srgbClr val="F4F4F4"/>
                </a:solidFill>
                <a:latin typeface="Roboto"/>
                <a:cs typeface="Roboto"/>
              </a:rPr>
              <a:t>High-</a:t>
            </a:r>
            <a:r>
              <a:rPr dirty="0" sz="2050" spc="-10">
                <a:solidFill>
                  <a:srgbClr val="F4F4F4"/>
                </a:solidFill>
                <a:latin typeface="Roboto"/>
                <a:cs typeface="Roboto"/>
              </a:rPr>
              <a:t>Priority </a:t>
            </a:r>
            <a:r>
              <a:rPr dirty="0" sz="2050" spc="-95">
                <a:solidFill>
                  <a:srgbClr val="F4F4F4"/>
                </a:solidFill>
                <a:latin typeface="Roboto"/>
                <a:cs typeface="Roboto"/>
              </a:rPr>
              <a:t>Recommendations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70">
                <a:solidFill>
                  <a:srgbClr val="F4F4F4"/>
                </a:solidFill>
                <a:latin typeface="Roboto"/>
                <a:cs typeface="Roboto"/>
              </a:rPr>
              <a:t>widget.</a:t>
            </a:r>
            <a:endParaRPr sz="205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4392" y="7193246"/>
            <a:ext cx="17087215" cy="2390775"/>
            <a:chOff x="634392" y="7193246"/>
            <a:chExt cx="17087215" cy="2390775"/>
          </a:xfrm>
        </p:grpSpPr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4392" y="7193246"/>
              <a:ext cx="2066924" cy="23907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90698" y="7193246"/>
              <a:ext cx="15030449" cy="239077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046362" y="7343419"/>
            <a:ext cx="1256665" cy="1687195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00330">
              <a:lnSpc>
                <a:spcPct val="100000"/>
              </a:lnSpc>
              <a:spcBef>
                <a:spcPts val="1805"/>
              </a:spcBef>
            </a:pPr>
            <a:r>
              <a:rPr dirty="0" sz="7100" spc="-25" b="1">
                <a:solidFill>
                  <a:srgbClr val="33A8F0"/>
                </a:solidFill>
                <a:latin typeface="Trebuchet MS"/>
                <a:cs typeface="Trebuchet MS"/>
              </a:rPr>
              <a:t>03</a:t>
            </a:r>
            <a:endParaRPr sz="7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950" spc="-90" b="1">
                <a:solidFill>
                  <a:srgbClr val="F4F4F4"/>
                </a:solidFill>
                <a:latin typeface="Trebuchet MS"/>
                <a:cs typeface="Trebuchet MS"/>
              </a:rPr>
              <a:t>Record</a:t>
            </a:r>
            <a:r>
              <a:rPr dirty="0" sz="1950" spc="-215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1950" spc="-25" b="1">
                <a:solidFill>
                  <a:srgbClr val="F4F4F4"/>
                </a:solidFill>
                <a:latin typeface="Trebuchet MS"/>
                <a:cs typeface="Trebuchet MS"/>
              </a:rPr>
              <a:t>C07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45831" y="7403883"/>
            <a:ext cx="4907280" cy="1917064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2384" marR="2012950">
              <a:lnSpc>
                <a:spcPts val="2950"/>
              </a:lnSpc>
              <a:spcBef>
                <a:spcPts val="310"/>
              </a:spcBef>
            </a:pPr>
            <a:r>
              <a:rPr dirty="0" sz="2550" spc="-125" b="1">
                <a:solidFill>
                  <a:srgbClr val="F4F4F4"/>
                </a:solidFill>
                <a:latin typeface="Trebuchet MS"/>
                <a:cs typeface="Trebuchet MS"/>
              </a:rPr>
              <a:t>Reseller</a:t>
            </a:r>
            <a:r>
              <a:rPr dirty="0" sz="2550" spc="-280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105" b="1">
                <a:solidFill>
                  <a:srgbClr val="F4F4F4"/>
                </a:solidFill>
                <a:latin typeface="Trebuchet MS"/>
                <a:cs typeface="Trebuchet MS"/>
              </a:rPr>
              <a:t>Consultancy </a:t>
            </a:r>
            <a:r>
              <a:rPr dirty="0" sz="2550" spc="-165" b="1">
                <a:solidFill>
                  <a:srgbClr val="F4F4F4"/>
                </a:solidFill>
                <a:latin typeface="Trebuchet MS"/>
                <a:cs typeface="Trebuchet MS"/>
              </a:rPr>
              <a:t>Inquiry</a:t>
            </a:r>
            <a:r>
              <a:rPr dirty="0" sz="2550" spc="-280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b="1">
                <a:solidFill>
                  <a:srgbClr val="F4F4F4"/>
                </a:solidFill>
                <a:latin typeface="Trebuchet MS"/>
                <a:cs typeface="Trebuchet MS"/>
              </a:rPr>
              <a:t>vs</a:t>
            </a:r>
            <a:r>
              <a:rPr dirty="0" sz="2550" spc="-280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160" b="1">
                <a:solidFill>
                  <a:srgbClr val="F4F4F4"/>
                </a:solidFill>
                <a:latin typeface="Trebuchet MS"/>
                <a:cs typeface="Trebuchet MS"/>
              </a:rPr>
              <a:t>Direct</a:t>
            </a:r>
            <a:r>
              <a:rPr dirty="0" sz="2550" spc="-280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20" b="1">
                <a:solidFill>
                  <a:srgbClr val="F4F4F4"/>
                </a:solidFill>
                <a:latin typeface="Trebuchet MS"/>
                <a:cs typeface="Trebuchet MS"/>
              </a:rPr>
              <a:t>Sale</a:t>
            </a:r>
            <a:endParaRPr sz="2550">
              <a:latin typeface="Trebuchet MS"/>
              <a:cs typeface="Trebuchet MS"/>
            </a:endParaRPr>
          </a:p>
          <a:p>
            <a:pPr algn="just" marL="12700" marR="5080">
              <a:lnSpc>
                <a:spcPct val="102800"/>
              </a:lnSpc>
              <a:spcBef>
                <a:spcPts val="1195"/>
              </a:spcBef>
            </a:pPr>
            <a:r>
              <a:rPr dirty="0" sz="2050" spc="-150" b="1" i="1">
                <a:solidFill>
                  <a:srgbClr val="33A8F0"/>
                </a:solidFill>
                <a:latin typeface="Gill Sans MT"/>
                <a:cs typeface="Gill Sans MT"/>
              </a:rPr>
              <a:t>“I</a:t>
            </a:r>
            <a:r>
              <a:rPr dirty="0" sz="2050" spc="-229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95" b="1" i="1">
                <a:solidFill>
                  <a:srgbClr val="33A8F0"/>
                </a:solidFill>
                <a:latin typeface="Gill Sans MT"/>
                <a:cs typeface="Gill Sans MT"/>
              </a:rPr>
              <a:t>wanted</a:t>
            </a:r>
            <a:r>
              <a:rPr dirty="0" sz="2050" spc="-23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95" b="1" i="1">
                <a:solidFill>
                  <a:srgbClr val="33A8F0"/>
                </a:solidFill>
                <a:latin typeface="Gill Sans MT"/>
                <a:cs typeface="Gill Sans MT"/>
              </a:rPr>
              <a:t>to</a:t>
            </a:r>
            <a:r>
              <a:rPr dirty="0" sz="2050" spc="-23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20" b="1" i="1">
                <a:solidFill>
                  <a:srgbClr val="33A8F0"/>
                </a:solidFill>
                <a:latin typeface="Gill Sans MT"/>
                <a:cs typeface="Gill Sans MT"/>
              </a:rPr>
              <a:t>ask</a:t>
            </a:r>
            <a:r>
              <a:rPr dirty="0" sz="2050" spc="-23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100" b="1" i="1">
                <a:solidFill>
                  <a:srgbClr val="33A8F0"/>
                </a:solidFill>
                <a:latin typeface="Gill Sans MT"/>
                <a:cs typeface="Gill Sans MT"/>
              </a:rPr>
              <a:t>about</a:t>
            </a:r>
            <a:r>
              <a:rPr dirty="0" sz="2050" spc="-229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60" b="1" i="1">
                <a:solidFill>
                  <a:srgbClr val="33A8F0"/>
                </a:solidFill>
                <a:latin typeface="Gill Sans MT"/>
                <a:cs typeface="Gill Sans MT"/>
              </a:rPr>
              <a:t>a</a:t>
            </a:r>
            <a:r>
              <a:rPr dirty="0" sz="2050" spc="-23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20" b="1" i="1">
                <a:solidFill>
                  <a:srgbClr val="33A8F0"/>
                </a:solidFill>
                <a:latin typeface="Gill Sans MT"/>
                <a:cs typeface="Gill Sans MT"/>
              </a:rPr>
              <a:t>possible</a:t>
            </a:r>
            <a:r>
              <a:rPr dirty="0" sz="2050" spc="-23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135" b="1" i="1">
                <a:solidFill>
                  <a:srgbClr val="33A8F0"/>
                </a:solidFill>
                <a:latin typeface="Gill Sans MT"/>
                <a:cs typeface="Gill Sans MT"/>
              </a:rPr>
              <a:t>partnership…</a:t>
            </a:r>
            <a:r>
              <a:rPr dirty="0" sz="2050" spc="-16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20" b="1" i="1">
                <a:solidFill>
                  <a:srgbClr val="33A8F0"/>
                </a:solidFill>
                <a:latin typeface="Gill Sans MT"/>
                <a:cs typeface="Gill Sans MT"/>
              </a:rPr>
              <a:t>Send</a:t>
            </a:r>
            <a:r>
              <a:rPr dirty="0" sz="2050" spc="-23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85" b="1" i="1">
                <a:solidFill>
                  <a:srgbClr val="33A8F0"/>
                </a:solidFill>
                <a:latin typeface="Gill Sans MT"/>
                <a:cs typeface="Gill Sans MT"/>
              </a:rPr>
              <a:t>whatever</a:t>
            </a:r>
            <a:r>
              <a:rPr dirty="0" sz="2050" spc="-229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80" b="1" i="1">
                <a:solidFill>
                  <a:srgbClr val="33A8F0"/>
                </a:solidFill>
                <a:latin typeface="Gill Sans MT"/>
                <a:cs typeface="Gill Sans MT"/>
              </a:rPr>
              <a:t>proposal</a:t>
            </a:r>
            <a:r>
              <a:rPr dirty="0" sz="2050" spc="-229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70" b="1" i="1">
                <a:solidFill>
                  <a:srgbClr val="33A8F0"/>
                </a:solidFill>
                <a:latin typeface="Gill Sans MT"/>
                <a:cs typeface="Gill Sans MT"/>
              </a:rPr>
              <a:t>you</a:t>
            </a:r>
            <a:r>
              <a:rPr dirty="0" sz="2050" spc="-23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175" b="1" i="1">
                <a:solidFill>
                  <a:srgbClr val="33A8F0"/>
                </a:solidFill>
                <a:latin typeface="Gill Sans MT"/>
                <a:cs typeface="Gill Sans MT"/>
              </a:rPr>
              <a:t>have…</a:t>
            </a:r>
            <a:r>
              <a:rPr dirty="0" sz="2050" spc="-23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60" b="1" i="1">
                <a:solidFill>
                  <a:srgbClr val="33A8F0"/>
                </a:solidFill>
                <a:latin typeface="Gill Sans MT"/>
                <a:cs typeface="Gill Sans MT"/>
              </a:rPr>
              <a:t>could</a:t>
            </a:r>
            <a:r>
              <a:rPr dirty="0" sz="2050" spc="-23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25" b="1" i="1">
                <a:solidFill>
                  <a:srgbClr val="33A8F0"/>
                </a:solidFill>
                <a:latin typeface="Gill Sans MT"/>
                <a:cs typeface="Gill Sans MT"/>
              </a:rPr>
              <a:t>I</a:t>
            </a:r>
            <a:r>
              <a:rPr dirty="0" sz="2050" spc="-229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65" b="1" i="1">
                <a:solidFill>
                  <a:srgbClr val="33A8F0"/>
                </a:solidFill>
                <a:latin typeface="Gill Sans MT"/>
                <a:cs typeface="Gill Sans MT"/>
              </a:rPr>
              <a:t>call</a:t>
            </a:r>
            <a:r>
              <a:rPr dirty="0" sz="2050" spc="-10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60" b="1" i="1">
                <a:solidFill>
                  <a:srgbClr val="33A8F0"/>
                </a:solidFill>
                <a:latin typeface="Gill Sans MT"/>
                <a:cs typeface="Gill Sans MT"/>
              </a:rPr>
              <a:t>on</a:t>
            </a:r>
            <a:r>
              <a:rPr dirty="0" sz="2050" spc="-235" b="1" i="1">
                <a:solidFill>
                  <a:srgbClr val="33A8F0"/>
                </a:solidFill>
                <a:latin typeface="Gill Sans MT"/>
                <a:cs typeface="Gill Sans MT"/>
              </a:rPr>
              <a:t> </a:t>
            </a:r>
            <a:r>
              <a:rPr dirty="0" sz="2050" spc="-160" b="1" i="1">
                <a:solidFill>
                  <a:srgbClr val="33A8F0"/>
                </a:solidFill>
                <a:latin typeface="Gill Sans MT"/>
                <a:cs typeface="Gill Sans MT"/>
              </a:rPr>
              <a:t>Monday…?”</a:t>
            </a:r>
            <a:endParaRPr sz="2050">
              <a:latin typeface="Gill Sans MT"/>
              <a:cs typeface="Gill Sans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78354" y="7663322"/>
            <a:ext cx="5006340" cy="1495425"/>
            <a:chOff x="8378354" y="7663322"/>
            <a:chExt cx="5006340" cy="1495425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78354" y="7663322"/>
              <a:ext cx="47624" cy="14954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698783" y="8133397"/>
              <a:ext cx="685799" cy="51434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8637061" y="7858897"/>
            <a:ext cx="2952750" cy="9804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25"/>
              </a:spcBef>
            </a:pP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Caller</a:t>
            </a:r>
            <a:r>
              <a:rPr dirty="0" sz="2050" spc="-15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is</a:t>
            </a:r>
            <a:r>
              <a:rPr dirty="0" sz="2050" spc="-15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4F4F4"/>
                </a:solidFill>
                <a:latin typeface="Roboto"/>
                <a:cs typeface="Roboto"/>
              </a:rPr>
              <a:t>an</a:t>
            </a:r>
            <a:r>
              <a:rPr dirty="0" sz="2050" spc="-15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IT</a:t>
            </a:r>
            <a:r>
              <a:rPr dirty="0" sz="2050" spc="-15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4F4F4"/>
                </a:solidFill>
                <a:latin typeface="Roboto"/>
                <a:cs typeface="Roboto"/>
              </a:rPr>
              <a:t>consultancy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seeking</a:t>
            </a:r>
            <a:r>
              <a:rPr dirty="0" sz="2050" spc="-12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reseller</a:t>
            </a:r>
            <a:r>
              <a:rPr dirty="0" sz="2050" spc="-12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80">
                <a:solidFill>
                  <a:srgbClr val="F4F4F4"/>
                </a:solidFill>
                <a:latin typeface="Roboto"/>
                <a:cs typeface="Roboto"/>
              </a:rPr>
              <a:t>distribution, </a:t>
            </a:r>
            <a:r>
              <a:rPr dirty="0" sz="2050" spc="-75">
                <a:solidFill>
                  <a:srgbClr val="F4F4F4"/>
                </a:solidFill>
                <a:latin typeface="Roboto"/>
                <a:cs typeface="Roboto"/>
              </a:rPr>
              <a:t>not</a:t>
            </a:r>
            <a:r>
              <a:rPr dirty="0" sz="2050" spc="-13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4F4F4"/>
                </a:solidFill>
                <a:latin typeface="Roboto"/>
                <a:cs typeface="Roboto"/>
              </a:rPr>
              <a:t>an</a:t>
            </a:r>
            <a:r>
              <a:rPr dirty="0" sz="2050" spc="-13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0">
                <a:solidFill>
                  <a:srgbClr val="F4F4F4"/>
                </a:solidFill>
                <a:latin typeface="Roboto"/>
                <a:cs typeface="Roboto"/>
              </a:rPr>
              <a:t>end-</a:t>
            </a:r>
            <a:r>
              <a:rPr dirty="0" sz="2050" spc="-80">
                <a:solidFill>
                  <a:srgbClr val="F4F4F4"/>
                </a:solidFill>
                <a:latin typeface="Roboto"/>
                <a:cs typeface="Roboto"/>
              </a:rPr>
              <a:t>user</a:t>
            </a:r>
            <a:r>
              <a:rPr dirty="0" sz="2050" spc="-13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4F4F4"/>
                </a:solidFill>
                <a:latin typeface="Roboto"/>
                <a:cs typeface="Roboto"/>
              </a:rPr>
              <a:t>buyer.</a:t>
            </a:r>
            <a:endParaRPr sz="205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29648" y="7266242"/>
            <a:ext cx="3390900" cy="1999614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560"/>
              </a:spcBef>
            </a:pPr>
            <a:r>
              <a:rPr dirty="0" sz="2300" spc="-114" b="1">
                <a:solidFill>
                  <a:srgbClr val="33A8F0"/>
                </a:solidFill>
                <a:latin typeface="Trebuchet MS"/>
                <a:cs typeface="Trebuchet MS"/>
              </a:rPr>
              <a:t>Product</a:t>
            </a:r>
            <a:r>
              <a:rPr dirty="0" sz="2300" spc="-305" b="1">
                <a:solidFill>
                  <a:srgbClr val="33A8F0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3A8F0"/>
                </a:solidFill>
                <a:latin typeface="Trebuchet MS"/>
                <a:cs typeface="Trebuchet MS"/>
              </a:rPr>
              <a:t>Influence</a:t>
            </a:r>
            <a:endParaRPr sz="2300">
              <a:latin typeface="Trebuchet MS"/>
              <a:cs typeface="Trebuchet MS"/>
            </a:endParaRPr>
          </a:p>
          <a:p>
            <a:pPr marL="12700" marR="5080">
              <a:lnSpc>
                <a:spcPct val="102800"/>
              </a:lnSpc>
              <a:spcBef>
                <a:spcPts val="1205"/>
              </a:spcBef>
            </a:pP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Created</a:t>
            </a:r>
            <a:r>
              <a:rPr dirty="0" sz="2050" spc="-10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dedicated</a:t>
            </a:r>
            <a:r>
              <a:rPr dirty="0" sz="2050" spc="-10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Partnership</a:t>
            </a:r>
            <a:r>
              <a:rPr dirty="0" sz="2050" spc="-10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4F4F4"/>
                </a:solidFill>
                <a:latin typeface="Roboto"/>
                <a:cs typeface="Roboto"/>
              </a:rPr>
              <a:t>/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Channel</a:t>
            </a:r>
            <a:r>
              <a:rPr dirty="0" sz="2050" spc="-12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route</a:t>
            </a:r>
            <a:r>
              <a:rPr dirty="0" sz="2050" spc="-114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category</a:t>
            </a:r>
            <a:r>
              <a:rPr dirty="0" sz="2050" spc="-12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25">
                <a:solidFill>
                  <a:srgbClr val="F4F4F4"/>
                </a:solidFill>
                <a:latin typeface="Roboto"/>
                <a:cs typeface="Roboto"/>
              </a:rPr>
              <a:t>to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prevent</a:t>
            </a:r>
            <a:r>
              <a:rPr dirty="0" sz="2050" spc="-13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reseller</a:t>
            </a:r>
            <a:r>
              <a:rPr dirty="0" sz="2050" spc="-12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80">
                <a:solidFill>
                  <a:srgbClr val="F4F4F4"/>
                </a:solidFill>
                <a:latin typeface="Roboto"/>
                <a:cs typeface="Roboto"/>
              </a:rPr>
              <a:t>leads</a:t>
            </a:r>
            <a:r>
              <a:rPr dirty="0" sz="2050" spc="-12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4F4F4"/>
                </a:solidFill>
                <a:latin typeface="Roboto"/>
                <a:cs typeface="Roboto"/>
              </a:rPr>
              <a:t>polluting 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direct</a:t>
            </a:r>
            <a:r>
              <a:rPr dirty="0" sz="2050" spc="-13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sales</a:t>
            </a:r>
            <a:r>
              <a:rPr dirty="0" sz="2050" spc="-12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4F4F4"/>
                </a:solidFill>
                <a:latin typeface="Roboto"/>
                <a:cs typeface="Roboto"/>
              </a:rPr>
              <a:t>pipeline.</a:t>
            </a:r>
            <a:endParaRPr sz="20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780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40"/>
              </a:spcBef>
            </a:pPr>
            <a:r>
              <a:rPr dirty="0" spc="-420"/>
              <a:t>Deliberately</a:t>
            </a:r>
            <a:r>
              <a:rPr dirty="0" spc="-825"/>
              <a:t> </a:t>
            </a:r>
            <a:r>
              <a:rPr dirty="0" spc="-415"/>
              <a:t>Rejected</a:t>
            </a:r>
            <a:r>
              <a:rPr dirty="0" spc="-819"/>
              <a:t> </a:t>
            </a:r>
            <a:r>
              <a:rPr dirty="0" spc="-170"/>
              <a:t>Decision</a:t>
            </a:r>
          </a:p>
          <a:p>
            <a:pPr marL="44450">
              <a:lnSpc>
                <a:spcPct val="100000"/>
              </a:lnSpc>
              <a:spcBef>
                <a:spcPts val="600"/>
              </a:spcBef>
            </a:pPr>
            <a:r>
              <a:rPr dirty="0" sz="2450" spc="-55" b="0">
                <a:solidFill>
                  <a:srgbClr val="D9D9D9"/>
                </a:solidFill>
                <a:latin typeface="Roboto"/>
                <a:cs typeface="Roboto"/>
              </a:rPr>
              <a:t>Sales</a:t>
            </a:r>
            <a:r>
              <a:rPr dirty="0" sz="2450" spc="-11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450" spc="-40" b="0">
                <a:solidFill>
                  <a:srgbClr val="D9D9D9"/>
                </a:solidFill>
                <a:latin typeface="Roboto"/>
                <a:cs typeface="Roboto"/>
              </a:rPr>
              <a:t>Rep</a:t>
            </a:r>
            <a:r>
              <a:rPr dirty="0" sz="2450" spc="-10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450" spc="-65" b="0">
                <a:solidFill>
                  <a:srgbClr val="D9D9D9"/>
                </a:solidFill>
                <a:latin typeface="Roboto"/>
                <a:cs typeface="Roboto"/>
              </a:rPr>
              <a:t>Leaderboards:</a:t>
            </a:r>
            <a:r>
              <a:rPr dirty="0" sz="2450" spc="-10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450" spc="-55" b="0">
                <a:solidFill>
                  <a:srgbClr val="D9D9D9"/>
                </a:solidFill>
                <a:latin typeface="Roboto"/>
                <a:cs typeface="Roboto"/>
              </a:rPr>
              <a:t>Design</a:t>
            </a:r>
            <a:r>
              <a:rPr dirty="0" sz="2450" spc="-10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450" spc="-65" b="0">
                <a:solidFill>
                  <a:srgbClr val="D9D9D9"/>
                </a:solidFill>
                <a:latin typeface="Roboto"/>
                <a:cs typeface="Roboto"/>
              </a:rPr>
              <a:t>Principles</a:t>
            </a:r>
            <a:r>
              <a:rPr dirty="0" sz="2450" spc="-10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450" b="0">
                <a:solidFill>
                  <a:srgbClr val="D9D9D9"/>
                </a:solidFill>
                <a:latin typeface="Roboto"/>
                <a:cs typeface="Roboto"/>
              </a:rPr>
              <a:t>&amp;</a:t>
            </a:r>
            <a:r>
              <a:rPr dirty="0" sz="2450" spc="-10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450" spc="-10" b="0">
                <a:solidFill>
                  <a:srgbClr val="D9D9D9"/>
                </a:solidFill>
                <a:latin typeface="Roboto"/>
                <a:cs typeface="Roboto"/>
              </a:rPr>
              <a:t>Governance</a:t>
            </a:r>
            <a:endParaRPr sz="2450">
              <a:latin typeface="Roboto"/>
              <a:cs typeface="Robo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10956" y="2339445"/>
            <a:ext cx="8183880" cy="7410450"/>
            <a:chOff x="710956" y="2339445"/>
            <a:chExt cx="8183880" cy="7410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894" y="2339445"/>
              <a:ext cx="8172449" cy="74104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956" y="2339445"/>
              <a:ext cx="8181974" cy="8953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09923" y="2562501"/>
            <a:ext cx="6699250" cy="22650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20" b="1">
                <a:solidFill>
                  <a:srgbClr val="F14E4B"/>
                </a:solidFill>
                <a:latin typeface="Trebuchet MS"/>
                <a:cs typeface="Trebuchet MS"/>
              </a:rPr>
              <a:t>WHAT</a:t>
            </a:r>
            <a:r>
              <a:rPr dirty="0" sz="2550" spc="-250" b="1">
                <a:solidFill>
                  <a:srgbClr val="F14E4B"/>
                </a:solidFill>
                <a:latin typeface="Trebuchet MS"/>
                <a:cs typeface="Trebuchet MS"/>
              </a:rPr>
              <a:t> </a:t>
            </a:r>
            <a:r>
              <a:rPr dirty="0" sz="2550" spc="75" b="1">
                <a:solidFill>
                  <a:srgbClr val="F14E4B"/>
                </a:solidFill>
                <a:latin typeface="Trebuchet MS"/>
                <a:cs typeface="Trebuchet MS"/>
              </a:rPr>
              <a:t>WAS</a:t>
            </a:r>
            <a:r>
              <a:rPr dirty="0" sz="2550" spc="-250" b="1">
                <a:solidFill>
                  <a:srgbClr val="F14E4B"/>
                </a:solidFill>
                <a:latin typeface="Trebuchet MS"/>
                <a:cs typeface="Trebuchet MS"/>
              </a:rPr>
              <a:t> </a:t>
            </a:r>
            <a:r>
              <a:rPr dirty="0" sz="2550" spc="-20" b="1">
                <a:solidFill>
                  <a:srgbClr val="F14E4B"/>
                </a:solidFill>
                <a:latin typeface="Trebuchet MS"/>
                <a:cs typeface="Trebuchet MS"/>
              </a:rPr>
              <a:t>CONSIDERED</a:t>
            </a:r>
            <a:r>
              <a:rPr dirty="0" sz="2550" spc="-250" b="1">
                <a:solidFill>
                  <a:srgbClr val="F14E4B"/>
                </a:solidFill>
                <a:latin typeface="Trebuchet MS"/>
                <a:cs typeface="Trebuchet MS"/>
              </a:rPr>
              <a:t> </a:t>
            </a:r>
            <a:r>
              <a:rPr dirty="0" sz="2550" spc="-135" b="1">
                <a:solidFill>
                  <a:srgbClr val="F14E4B"/>
                </a:solidFill>
                <a:latin typeface="Trebuchet MS"/>
                <a:cs typeface="Trebuchet MS"/>
              </a:rPr>
              <a:t>&amp;</a:t>
            </a:r>
            <a:r>
              <a:rPr dirty="0" sz="2550" spc="-250" b="1">
                <a:solidFill>
                  <a:srgbClr val="F14E4B"/>
                </a:solidFill>
                <a:latin typeface="Trebuchet MS"/>
                <a:cs typeface="Trebuchet MS"/>
              </a:rPr>
              <a:t> </a:t>
            </a:r>
            <a:r>
              <a:rPr dirty="0" sz="2550" spc="-10" b="1">
                <a:solidFill>
                  <a:srgbClr val="F14E4B"/>
                </a:solidFill>
                <a:latin typeface="Trebuchet MS"/>
                <a:cs typeface="Trebuchet MS"/>
              </a:rPr>
              <a:t>REJECTED</a:t>
            </a:r>
            <a:endParaRPr sz="2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2550">
              <a:latin typeface="Trebuchet MS"/>
              <a:cs typeface="Trebuchet MS"/>
            </a:endParaRPr>
          </a:p>
          <a:p>
            <a:pPr marL="40640">
              <a:lnSpc>
                <a:spcPct val="100000"/>
              </a:lnSpc>
            </a:pPr>
            <a:r>
              <a:rPr dirty="0" sz="2550" spc="-160" b="1">
                <a:solidFill>
                  <a:srgbClr val="F5F5F5"/>
                </a:solidFill>
                <a:latin typeface="Trebuchet MS"/>
                <a:cs typeface="Trebuchet MS"/>
              </a:rPr>
              <a:t>Feature</a:t>
            </a:r>
            <a:r>
              <a:rPr dirty="0" sz="2550" spc="-250" b="1">
                <a:solidFill>
                  <a:srgbClr val="F5F5F5"/>
                </a:solidFill>
                <a:latin typeface="Trebuchet MS"/>
                <a:cs typeface="Trebuchet MS"/>
              </a:rPr>
              <a:t> </a:t>
            </a:r>
            <a:r>
              <a:rPr dirty="0" sz="2550" spc="-10" b="1">
                <a:solidFill>
                  <a:srgbClr val="F5F5F5"/>
                </a:solidFill>
                <a:latin typeface="Trebuchet MS"/>
                <a:cs typeface="Trebuchet MS"/>
              </a:rPr>
              <a:t>Considered</a:t>
            </a:r>
            <a:endParaRPr sz="2550">
              <a:latin typeface="Trebuchet MS"/>
              <a:cs typeface="Trebuchet MS"/>
            </a:endParaRPr>
          </a:p>
          <a:p>
            <a:pPr marL="68580" marR="5080">
              <a:lnSpc>
                <a:spcPct val="109600"/>
              </a:lnSpc>
              <a:spcBef>
                <a:spcPts val="770"/>
              </a:spcBef>
            </a:pPr>
            <a:r>
              <a:rPr dirty="0" sz="2350" spc="-65">
                <a:solidFill>
                  <a:srgbClr val="D9D9D9"/>
                </a:solidFill>
                <a:latin typeface="Roboto"/>
                <a:cs typeface="Roboto"/>
              </a:rPr>
              <a:t>Competitive</a:t>
            </a:r>
            <a:r>
              <a:rPr dirty="0" sz="2350" spc="-10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5">
                <a:solidFill>
                  <a:srgbClr val="D9D9D9"/>
                </a:solidFill>
                <a:latin typeface="Roboto"/>
                <a:cs typeface="Roboto"/>
              </a:rPr>
              <a:t>sales</a:t>
            </a:r>
            <a:r>
              <a:rPr dirty="0" sz="2350" spc="-10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45">
                <a:solidFill>
                  <a:srgbClr val="D9D9D9"/>
                </a:solidFill>
                <a:latin typeface="Roboto"/>
                <a:cs typeface="Roboto"/>
              </a:rPr>
              <a:t>rep</a:t>
            </a:r>
            <a:r>
              <a:rPr dirty="0" sz="2350" spc="-10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5">
                <a:solidFill>
                  <a:srgbClr val="D9D9D9"/>
                </a:solidFill>
                <a:latin typeface="Roboto"/>
                <a:cs typeface="Roboto"/>
              </a:rPr>
              <a:t>leaderboard</a:t>
            </a:r>
            <a:r>
              <a:rPr dirty="0" sz="2350" spc="-10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0">
                <a:solidFill>
                  <a:srgbClr val="D9D9D9"/>
                </a:solidFill>
                <a:latin typeface="Roboto"/>
                <a:cs typeface="Roboto"/>
              </a:rPr>
              <a:t>ranking</a:t>
            </a:r>
            <a:r>
              <a:rPr dirty="0" sz="2350" spc="-10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25">
                <a:solidFill>
                  <a:srgbClr val="D9D9D9"/>
                </a:solidFill>
                <a:latin typeface="Roboto"/>
                <a:cs typeface="Roboto"/>
              </a:rPr>
              <a:t>by </a:t>
            </a:r>
            <a:r>
              <a:rPr dirty="0" sz="2350" spc="-60">
                <a:solidFill>
                  <a:srgbClr val="D9D9D9"/>
                </a:solidFill>
                <a:latin typeface="Roboto"/>
                <a:cs typeface="Roboto"/>
              </a:rPr>
              <a:t>connected</a:t>
            </a:r>
            <a:r>
              <a:rPr dirty="0" sz="2350" spc="-10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0">
                <a:solidFill>
                  <a:srgbClr val="D9D9D9"/>
                </a:solidFill>
                <a:latin typeface="Roboto"/>
                <a:cs typeface="Roboto"/>
              </a:rPr>
              <a:t>call</a:t>
            </a:r>
            <a:r>
              <a:rPr dirty="0" sz="2350" spc="-9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0">
                <a:solidFill>
                  <a:srgbClr val="D9D9D9"/>
                </a:solidFill>
                <a:latin typeface="Roboto"/>
                <a:cs typeface="Roboto"/>
              </a:rPr>
              <a:t>rate,</a:t>
            </a:r>
            <a:r>
              <a:rPr dirty="0" sz="2350" spc="-9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0">
                <a:solidFill>
                  <a:srgbClr val="D9D9D9"/>
                </a:solidFill>
                <a:latin typeface="Roboto"/>
                <a:cs typeface="Roboto"/>
              </a:rPr>
              <a:t>deal</a:t>
            </a:r>
            <a:r>
              <a:rPr dirty="0" sz="2350" spc="-9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5">
                <a:solidFill>
                  <a:srgbClr val="D9D9D9"/>
                </a:solidFill>
                <a:latin typeface="Roboto"/>
                <a:cs typeface="Roboto"/>
              </a:rPr>
              <a:t>conversion,</a:t>
            </a:r>
            <a:r>
              <a:rPr dirty="0" sz="2350" spc="-9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75">
                <a:solidFill>
                  <a:srgbClr val="D9D9D9"/>
                </a:solidFill>
                <a:latin typeface="Roboto"/>
                <a:cs typeface="Roboto"/>
              </a:rPr>
              <a:t>win-</a:t>
            </a:r>
            <a:r>
              <a:rPr dirty="0" sz="2350" spc="-55">
                <a:solidFill>
                  <a:srgbClr val="D9D9D9"/>
                </a:solidFill>
                <a:latin typeface="Roboto"/>
                <a:cs typeface="Roboto"/>
              </a:rPr>
              <a:t>rate</a:t>
            </a:r>
            <a:r>
              <a:rPr dirty="0" sz="2350" spc="-9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10">
                <a:solidFill>
                  <a:srgbClr val="D9D9D9"/>
                </a:solidFill>
                <a:latin typeface="Roboto"/>
                <a:cs typeface="Roboto"/>
              </a:rPr>
              <a:t>scores.</a:t>
            </a:r>
            <a:endParaRPr sz="235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1282" y="5148965"/>
            <a:ext cx="7248524" cy="285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39557" y="5454183"/>
            <a:ext cx="259715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145" b="1">
                <a:solidFill>
                  <a:srgbClr val="F5F5F5"/>
                </a:solidFill>
                <a:latin typeface="Trebuchet MS"/>
                <a:cs typeface="Trebuchet MS"/>
              </a:rPr>
              <a:t>Rejection</a:t>
            </a:r>
            <a:r>
              <a:rPr dirty="0" sz="2550" spc="-204" b="1">
                <a:solidFill>
                  <a:srgbClr val="F5F5F5"/>
                </a:solidFill>
                <a:latin typeface="Trebuchet MS"/>
                <a:cs typeface="Trebuchet MS"/>
              </a:rPr>
              <a:t> </a:t>
            </a:r>
            <a:r>
              <a:rPr dirty="0" sz="2550" spc="-10" b="1">
                <a:solidFill>
                  <a:srgbClr val="F5F5F5"/>
                </a:solidFill>
                <a:latin typeface="Trebuchet MS"/>
                <a:cs typeface="Trebuchet MS"/>
              </a:rPr>
              <a:t>Reasons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7169" y="5451642"/>
            <a:ext cx="443230" cy="3896360"/>
          </a:xfrm>
          <a:prstGeom prst="rect">
            <a:avLst/>
          </a:prstGeom>
        </p:spPr>
        <p:txBody>
          <a:bodyPr wrap="square" lIns="0" tIns="528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65"/>
              </a:spcBef>
            </a:pPr>
            <a:r>
              <a:rPr dirty="0" sz="5700" spc="-50" b="1">
                <a:solidFill>
                  <a:srgbClr val="F14E4B"/>
                </a:solidFill>
                <a:latin typeface="Trebuchet MS"/>
                <a:cs typeface="Trebuchet MS"/>
              </a:rPr>
              <a:t>1</a:t>
            </a:r>
            <a:endParaRPr sz="5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70"/>
              </a:spcBef>
            </a:pPr>
            <a:r>
              <a:rPr dirty="0" sz="5700" spc="-50" b="1">
                <a:solidFill>
                  <a:srgbClr val="F14E4B"/>
                </a:solidFill>
                <a:latin typeface="Trebuchet MS"/>
                <a:cs typeface="Trebuchet MS"/>
              </a:rPr>
              <a:t>2</a:t>
            </a:r>
            <a:endParaRPr sz="5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dirty="0" sz="5700" spc="-50" b="1">
                <a:solidFill>
                  <a:srgbClr val="F14E4B"/>
                </a:solidFill>
                <a:latin typeface="Trebuchet MS"/>
                <a:cs typeface="Trebuchet MS"/>
              </a:rPr>
              <a:t>3</a:t>
            </a:r>
            <a:endParaRPr sz="57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7214" y="5999917"/>
            <a:ext cx="5871845" cy="1149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300"/>
              </a:lnSpc>
              <a:spcBef>
                <a:spcPts val="100"/>
              </a:spcBef>
            </a:pPr>
            <a:r>
              <a:rPr dirty="0" sz="2250" spc="-75">
                <a:solidFill>
                  <a:srgbClr val="D9D9D9"/>
                </a:solidFill>
                <a:latin typeface="Roboto"/>
                <a:cs typeface="Roboto"/>
              </a:rPr>
              <a:t>Selected</a:t>
            </a:r>
            <a:r>
              <a:rPr dirty="0" sz="2250" spc="-10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70">
                <a:solidFill>
                  <a:srgbClr val="D9D9D9"/>
                </a:solidFill>
                <a:latin typeface="Roboto"/>
                <a:cs typeface="Roboto"/>
              </a:rPr>
              <a:t>Dataset</a:t>
            </a:r>
            <a:r>
              <a:rPr dirty="0" sz="2250" spc="-9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70">
                <a:solidFill>
                  <a:srgbClr val="D9D9D9"/>
                </a:solidFill>
                <a:latin typeface="Roboto"/>
                <a:cs typeface="Roboto"/>
              </a:rPr>
              <a:t>Bias:</a:t>
            </a:r>
            <a:r>
              <a:rPr dirty="0" sz="2250" spc="-9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40">
                <a:solidFill>
                  <a:srgbClr val="D9D9D9"/>
                </a:solidFill>
                <a:latin typeface="Roboto"/>
                <a:cs typeface="Roboto"/>
              </a:rPr>
              <a:t>44</a:t>
            </a:r>
            <a:r>
              <a:rPr dirty="0" sz="2250" spc="-9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75">
                <a:solidFill>
                  <a:srgbClr val="D9D9D9"/>
                </a:solidFill>
                <a:latin typeface="Roboto"/>
                <a:cs typeface="Roboto"/>
              </a:rPr>
              <a:t>records</a:t>
            </a:r>
            <a:r>
              <a:rPr dirty="0" sz="2250" spc="-9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55">
                <a:solidFill>
                  <a:srgbClr val="D9D9D9"/>
                </a:solidFill>
                <a:latin typeface="Roboto"/>
                <a:cs typeface="Roboto"/>
              </a:rPr>
              <a:t>are</a:t>
            </a:r>
            <a:r>
              <a:rPr dirty="0" sz="2250" spc="-10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45">
                <a:solidFill>
                  <a:srgbClr val="D9D9D9"/>
                </a:solidFill>
                <a:latin typeface="Roboto"/>
                <a:cs typeface="Roboto"/>
              </a:rPr>
              <a:t>operational </a:t>
            </a:r>
            <a:r>
              <a:rPr dirty="0" sz="2250" spc="-70">
                <a:solidFill>
                  <a:srgbClr val="D9D9D9"/>
                </a:solidFill>
                <a:latin typeface="Roboto"/>
                <a:cs typeface="Roboto"/>
              </a:rPr>
              <a:t>extract,</a:t>
            </a:r>
            <a:r>
              <a:rPr dirty="0" sz="2250" spc="-10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60">
                <a:solidFill>
                  <a:srgbClr val="D9D9D9"/>
                </a:solidFill>
                <a:latin typeface="Roboto"/>
                <a:cs typeface="Roboto"/>
              </a:rPr>
              <a:t>not</a:t>
            </a:r>
            <a:r>
              <a:rPr dirty="0" sz="2250" spc="-10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65">
                <a:solidFill>
                  <a:srgbClr val="D9D9D9"/>
                </a:solidFill>
                <a:latin typeface="Roboto"/>
                <a:cs typeface="Roboto"/>
              </a:rPr>
              <a:t>full</a:t>
            </a:r>
            <a:r>
              <a:rPr dirty="0" sz="2250" spc="-10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60">
                <a:solidFill>
                  <a:srgbClr val="D9D9D9"/>
                </a:solidFill>
                <a:latin typeface="Roboto"/>
                <a:cs typeface="Roboto"/>
              </a:rPr>
              <a:t>team</a:t>
            </a:r>
            <a:r>
              <a:rPr dirty="0" sz="2250" spc="-10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65">
                <a:solidFill>
                  <a:srgbClr val="D9D9D9"/>
                </a:solidFill>
                <a:latin typeface="Roboto"/>
                <a:cs typeface="Roboto"/>
              </a:rPr>
              <a:t>data;</a:t>
            </a:r>
            <a:r>
              <a:rPr dirty="0" sz="2250" spc="-10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40">
                <a:solidFill>
                  <a:srgbClr val="D9D9D9"/>
                </a:solidFill>
                <a:latin typeface="Roboto"/>
                <a:cs typeface="Roboto"/>
              </a:rPr>
              <a:t>20</a:t>
            </a:r>
            <a:r>
              <a:rPr dirty="0" sz="2250" spc="-10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75">
                <a:solidFill>
                  <a:srgbClr val="D9D9D9"/>
                </a:solidFill>
                <a:latin typeface="Roboto"/>
                <a:cs typeface="Roboto"/>
              </a:rPr>
              <a:t>unrecorded</a:t>
            </a:r>
            <a:r>
              <a:rPr dirty="0" sz="2250" spc="-10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10">
                <a:solidFill>
                  <a:srgbClr val="D9D9D9"/>
                </a:solidFill>
                <a:latin typeface="Roboto"/>
                <a:cs typeface="Roboto"/>
              </a:rPr>
              <a:t>calls </a:t>
            </a:r>
            <a:r>
              <a:rPr dirty="0" sz="2250" spc="-65">
                <a:solidFill>
                  <a:srgbClr val="D9D9D9"/>
                </a:solidFill>
                <a:latin typeface="Roboto"/>
                <a:cs typeface="Roboto"/>
              </a:rPr>
              <a:t>create</a:t>
            </a:r>
            <a:r>
              <a:rPr dirty="0" sz="2250" spc="-8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75">
                <a:solidFill>
                  <a:srgbClr val="D9D9D9"/>
                </a:solidFill>
                <a:latin typeface="Roboto"/>
                <a:cs typeface="Roboto"/>
              </a:rPr>
              <a:t>misleading</a:t>
            </a:r>
            <a:r>
              <a:rPr dirty="0" sz="2250" spc="-8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10">
                <a:solidFill>
                  <a:srgbClr val="D9D9D9"/>
                </a:solidFill>
                <a:latin typeface="Roboto"/>
                <a:cs typeface="Roboto"/>
              </a:rPr>
              <a:t>rankings.</a:t>
            </a:r>
            <a:endParaRPr sz="22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7214" y="7435205"/>
            <a:ext cx="5846445" cy="810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95"/>
              </a:spcBef>
            </a:pPr>
            <a:r>
              <a:rPr dirty="0" sz="2350" spc="-50">
                <a:solidFill>
                  <a:srgbClr val="D9D9D9"/>
                </a:solidFill>
                <a:latin typeface="Roboto"/>
                <a:cs typeface="Roboto"/>
              </a:rPr>
              <a:t>Role</a:t>
            </a:r>
            <a:r>
              <a:rPr dirty="0" sz="2350" spc="-10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5">
                <a:solidFill>
                  <a:srgbClr val="D9D9D9"/>
                </a:solidFill>
                <a:latin typeface="Roboto"/>
                <a:cs typeface="Roboto"/>
              </a:rPr>
              <a:t>Conflation:</a:t>
            </a:r>
            <a:r>
              <a:rPr dirty="0" sz="2350" spc="-9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0">
                <a:solidFill>
                  <a:srgbClr val="D9D9D9"/>
                </a:solidFill>
                <a:latin typeface="Roboto"/>
                <a:cs typeface="Roboto"/>
              </a:rPr>
              <a:t>Meeting</a:t>
            </a:r>
            <a:r>
              <a:rPr dirty="0" sz="2350" spc="-10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5">
                <a:solidFill>
                  <a:srgbClr val="D9D9D9"/>
                </a:solidFill>
                <a:latin typeface="Roboto"/>
                <a:cs typeface="Roboto"/>
              </a:rPr>
              <a:t>organisers</a:t>
            </a:r>
            <a:r>
              <a:rPr dirty="0" sz="2350" spc="-9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5">
                <a:solidFill>
                  <a:srgbClr val="D9D9D9"/>
                </a:solidFill>
                <a:latin typeface="Roboto"/>
                <a:cs typeface="Roboto"/>
              </a:rPr>
              <a:t>cannot</a:t>
            </a:r>
            <a:r>
              <a:rPr dirty="0" sz="2350" spc="-9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25">
                <a:solidFill>
                  <a:srgbClr val="D9D9D9"/>
                </a:solidFill>
                <a:latin typeface="Roboto"/>
                <a:cs typeface="Roboto"/>
              </a:rPr>
              <a:t>be </a:t>
            </a:r>
            <a:r>
              <a:rPr dirty="0" sz="2350" spc="-55">
                <a:solidFill>
                  <a:srgbClr val="D9D9D9"/>
                </a:solidFill>
                <a:latin typeface="Roboto"/>
                <a:cs typeface="Roboto"/>
              </a:rPr>
              <a:t>assumed</a:t>
            </a:r>
            <a:r>
              <a:rPr dirty="0" sz="2350" spc="-114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0">
                <a:solidFill>
                  <a:srgbClr val="D9D9D9"/>
                </a:solidFill>
                <a:latin typeface="Roboto"/>
                <a:cs typeface="Roboto"/>
              </a:rPr>
              <a:t>call</a:t>
            </a:r>
            <a:r>
              <a:rPr dirty="0" sz="2350" spc="-10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5">
                <a:solidFill>
                  <a:srgbClr val="D9D9D9"/>
                </a:solidFill>
                <a:latin typeface="Roboto"/>
                <a:cs typeface="Roboto"/>
              </a:rPr>
              <a:t>attendees</a:t>
            </a:r>
            <a:r>
              <a:rPr dirty="0" sz="2350" spc="-11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40">
                <a:solidFill>
                  <a:srgbClr val="D9D9D9"/>
                </a:solidFill>
                <a:latin typeface="Roboto"/>
                <a:cs typeface="Roboto"/>
              </a:rPr>
              <a:t>or</a:t>
            </a:r>
            <a:r>
              <a:rPr dirty="0" sz="2350" spc="-10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0">
                <a:solidFill>
                  <a:srgbClr val="D9D9D9"/>
                </a:solidFill>
                <a:latin typeface="Roboto"/>
                <a:cs typeface="Roboto"/>
              </a:rPr>
              <a:t>deal</a:t>
            </a:r>
            <a:r>
              <a:rPr dirty="0" sz="2350" spc="-10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10">
                <a:solidFill>
                  <a:srgbClr val="D9D9D9"/>
                </a:solidFill>
                <a:latin typeface="Roboto"/>
                <a:cs typeface="Roboto"/>
              </a:rPr>
              <a:t>owners.</a:t>
            </a:r>
            <a:endParaRPr sz="23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7214" y="8519585"/>
            <a:ext cx="6104255" cy="810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95"/>
              </a:spcBef>
            </a:pPr>
            <a:r>
              <a:rPr dirty="0" sz="2350" spc="-65">
                <a:solidFill>
                  <a:srgbClr val="D9D9D9"/>
                </a:solidFill>
                <a:latin typeface="Roboto"/>
                <a:cs typeface="Roboto"/>
              </a:rPr>
              <a:t>Punitive</a:t>
            </a:r>
            <a:r>
              <a:rPr dirty="0" sz="2350" spc="-8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5">
                <a:solidFill>
                  <a:srgbClr val="D9D9D9"/>
                </a:solidFill>
                <a:latin typeface="Roboto"/>
                <a:cs typeface="Roboto"/>
              </a:rPr>
              <a:t>Inaccuracies:</a:t>
            </a:r>
            <a:r>
              <a:rPr dirty="0" sz="2350" spc="-7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5">
                <a:solidFill>
                  <a:srgbClr val="D9D9D9"/>
                </a:solidFill>
                <a:latin typeface="Roboto"/>
                <a:cs typeface="Roboto"/>
              </a:rPr>
              <a:t>Small</a:t>
            </a:r>
            <a:r>
              <a:rPr dirty="0" sz="2350" spc="-75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0">
                <a:solidFill>
                  <a:srgbClr val="D9D9D9"/>
                </a:solidFill>
                <a:latin typeface="Roboto"/>
                <a:cs typeface="Roboto"/>
              </a:rPr>
              <a:t>samples</a:t>
            </a:r>
            <a:r>
              <a:rPr dirty="0" sz="2350" spc="-8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40">
                <a:solidFill>
                  <a:srgbClr val="D9D9D9"/>
                </a:solidFill>
                <a:latin typeface="Roboto"/>
                <a:cs typeface="Roboto"/>
              </a:rPr>
              <a:t>incentivize </a:t>
            </a:r>
            <a:r>
              <a:rPr dirty="0" sz="2350" spc="-60">
                <a:solidFill>
                  <a:srgbClr val="D9D9D9"/>
                </a:solidFill>
                <a:latin typeface="Roboto"/>
                <a:cs typeface="Roboto"/>
              </a:rPr>
              <a:t>metric</a:t>
            </a:r>
            <a:r>
              <a:rPr dirty="0" sz="2350" spc="-114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5">
                <a:solidFill>
                  <a:srgbClr val="D9D9D9"/>
                </a:solidFill>
                <a:latin typeface="Roboto"/>
                <a:cs typeface="Roboto"/>
              </a:rPr>
              <a:t>gaming</a:t>
            </a:r>
            <a:r>
              <a:rPr dirty="0" sz="2350" spc="-114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40">
                <a:solidFill>
                  <a:srgbClr val="D9D9D9"/>
                </a:solidFill>
                <a:latin typeface="Roboto"/>
                <a:cs typeface="Roboto"/>
              </a:rPr>
              <a:t>and</a:t>
            </a:r>
            <a:r>
              <a:rPr dirty="0" sz="2350" spc="-114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0">
                <a:solidFill>
                  <a:srgbClr val="D9D9D9"/>
                </a:solidFill>
                <a:latin typeface="Roboto"/>
                <a:cs typeface="Roboto"/>
              </a:rPr>
              <a:t>harm</a:t>
            </a:r>
            <a:r>
              <a:rPr dirty="0" sz="2350" spc="-114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10">
                <a:solidFill>
                  <a:srgbClr val="D9D9D9"/>
                </a:solidFill>
                <a:latin typeface="Roboto"/>
                <a:cs typeface="Roboto"/>
              </a:rPr>
              <a:t>trust.</a:t>
            </a:r>
            <a:endParaRPr sz="235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308065" y="2328513"/>
            <a:ext cx="8113395" cy="7429500"/>
            <a:chOff x="9308065" y="2328513"/>
            <a:chExt cx="8113395" cy="74295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08065" y="2328513"/>
              <a:ext cx="8113157" cy="74294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29942" y="2350377"/>
              <a:ext cx="8086724" cy="8858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89330" y="5138033"/>
              <a:ext cx="7153274" cy="476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89330" y="7094859"/>
              <a:ext cx="7153274" cy="47624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ACCEPTED</a:t>
            </a:r>
            <a:r>
              <a:rPr dirty="0" spc="-229"/>
              <a:t> </a:t>
            </a:r>
            <a:r>
              <a:rPr dirty="0" spc="-35"/>
              <a:t>ALTERNATIVE</a:t>
            </a:r>
            <a:r>
              <a:rPr dirty="0" spc="-229"/>
              <a:t> </a:t>
            </a:r>
            <a:r>
              <a:rPr dirty="0" spc="-135"/>
              <a:t>&amp;</a:t>
            </a:r>
            <a:r>
              <a:rPr dirty="0" spc="-229"/>
              <a:t> </a:t>
            </a:r>
            <a:r>
              <a:rPr dirty="0" spc="-40"/>
              <a:t>TRADE-</a:t>
            </a:r>
            <a:r>
              <a:rPr dirty="0" spc="-25"/>
              <a:t>OFF</a:t>
            </a:r>
          </a:p>
          <a:p>
            <a:pPr>
              <a:lnSpc>
                <a:spcPct val="100000"/>
              </a:lnSpc>
              <a:spcBef>
                <a:spcPts val="1570"/>
              </a:spcBef>
            </a:pPr>
          </a:p>
          <a:p>
            <a:pPr marL="53340">
              <a:lnSpc>
                <a:spcPct val="100000"/>
              </a:lnSpc>
            </a:pPr>
            <a:r>
              <a:rPr dirty="0" spc="-65">
                <a:solidFill>
                  <a:srgbClr val="F5F5F5"/>
                </a:solidFill>
              </a:rPr>
              <a:t>Architecture</a:t>
            </a:r>
          </a:p>
          <a:p>
            <a:pPr marL="71120" marR="591185">
              <a:lnSpc>
                <a:spcPct val="109600"/>
              </a:lnSpc>
              <a:spcBef>
                <a:spcPts val="770"/>
              </a:spcBef>
            </a:pPr>
            <a:r>
              <a:rPr dirty="0" sz="2350" spc="-60" b="0">
                <a:solidFill>
                  <a:srgbClr val="D9D9D9"/>
                </a:solidFill>
                <a:latin typeface="Roboto"/>
                <a:cs typeface="Roboto"/>
              </a:rPr>
              <a:t>Neutral</a:t>
            </a:r>
            <a:r>
              <a:rPr dirty="0" sz="235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5" b="0">
                <a:solidFill>
                  <a:srgbClr val="D9D9D9"/>
                </a:solidFill>
                <a:latin typeface="Roboto"/>
                <a:cs typeface="Roboto"/>
              </a:rPr>
              <a:t>Activity</a:t>
            </a:r>
            <a:r>
              <a:rPr dirty="0" sz="2350" spc="-10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0" b="0">
                <a:solidFill>
                  <a:srgbClr val="D9D9D9"/>
                </a:solidFill>
                <a:latin typeface="Roboto"/>
                <a:cs typeface="Roboto"/>
              </a:rPr>
              <a:t>Breakdown</a:t>
            </a:r>
            <a:r>
              <a:rPr dirty="0" sz="2350" spc="-10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5" b="0">
                <a:solidFill>
                  <a:srgbClr val="D9D9D9"/>
                </a:solidFill>
                <a:latin typeface="Roboto"/>
                <a:cs typeface="Roboto"/>
              </a:rPr>
              <a:t>Cards</a:t>
            </a:r>
            <a:r>
              <a:rPr dirty="0" sz="2350" spc="-10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5" b="0">
                <a:solidFill>
                  <a:srgbClr val="D9D9D9"/>
                </a:solidFill>
                <a:latin typeface="Roboto"/>
                <a:cs typeface="Roboto"/>
              </a:rPr>
              <a:t>strictly</a:t>
            </a:r>
            <a:r>
              <a:rPr dirty="0" sz="2350" spc="-10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25" b="0">
                <a:solidFill>
                  <a:srgbClr val="D9D9D9"/>
                </a:solidFill>
                <a:latin typeface="Roboto"/>
                <a:cs typeface="Roboto"/>
              </a:rPr>
              <a:t>separating </a:t>
            </a:r>
            <a:r>
              <a:rPr dirty="0" sz="2350" spc="-65" b="0">
                <a:solidFill>
                  <a:srgbClr val="D9D9D9"/>
                </a:solidFill>
                <a:latin typeface="Roboto"/>
                <a:cs typeface="Roboto"/>
              </a:rPr>
              <a:t>telephonic</a:t>
            </a:r>
            <a:r>
              <a:rPr dirty="0" sz="2350" spc="-10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5" b="0">
                <a:solidFill>
                  <a:srgbClr val="D9D9D9"/>
                </a:solidFill>
                <a:latin typeface="Roboto"/>
                <a:cs typeface="Roboto"/>
              </a:rPr>
              <a:t>Call</a:t>
            </a:r>
            <a:r>
              <a:rPr dirty="0" sz="235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0" b="0">
                <a:solidFill>
                  <a:srgbClr val="D9D9D9"/>
                </a:solidFill>
                <a:latin typeface="Roboto"/>
                <a:cs typeface="Roboto"/>
              </a:rPr>
              <a:t>Reps</a:t>
            </a:r>
            <a:r>
              <a:rPr dirty="0" sz="2350" spc="-10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50" b="0">
                <a:solidFill>
                  <a:srgbClr val="D9D9D9"/>
                </a:solidFill>
                <a:latin typeface="Roboto"/>
                <a:cs typeface="Roboto"/>
              </a:rPr>
              <a:t>from</a:t>
            </a:r>
            <a:r>
              <a:rPr dirty="0" sz="2350" spc="-10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60" b="0">
                <a:solidFill>
                  <a:srgbClr val="D9D9D9"/>
                </a:solidFill>
                <a:latin typeface="Roboto"/>
                <a:cs typeface="Roboto"/>
              </a:rPr>
              <a:t>Meeting</a:t>
            </a:r>
            <a:r>
              <a:rPr dirty="0" sz="2350" spc="-10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50" spc="-10" b="0">
                <a:solidFill>
                  <a:srgbClr val="D9D9D9"/>
                </a:solidFill>
                <a:latin typeface="Roboto"/>
                <a:cs typeface="Roboto"/>
              </a:rPr>
              <a:t>Organisers.</a:t>
            </a:r>
            <a:endParaRPr sz="2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345"/>
              </a:spcBef>
            </a:pPr>
            <a:endParaRPr sz="2350">
              <a:latin typeface="Roboto"/>
              <a:cs typeface="Roboto"/>
            </a:endParaRPr>
          </a:p>
          <a:p>
            <a:pPr marL="60325">
              <a:lnSpc>
                <a:spcPct val="100000"/>
              </a:lnSpc>
            </a:pPr>
            <a:r>
              <a:rPr dirty="0" spc="-10">
                <a:solidFill>
                  <a:srgbClr val="F5F5F5"/>
                </a:solidFill>
              </a:rPr>
              <a:t>Metrics</a:t>
            </a:r>
          </a:p>
          <a:p>
            <a:pPr marL="71120" marR="5080">
              <a:lnSpc>
                <a:spcPct val="112000"/>
              </a:lnSpc>
              <a:spcBef>
                <a:spcPts val="855"/>
              </a:spcBef>
            </a:pPr>
            <a:r>
              <a:rPr dirty="0" sz="2300" spc="-40" b="0">
                <a:solidFill>
                  <a:srgbClr val="D9D9D9"/>
                </a:solidFill>
                <a:latin typeface="Roboto"/>
                <a:cs typeface="Roboto"/>
              </a:rPr>
              <a:t>Raw</a:t>
            </a:r>
            <a:r>
              <a:rPr dirty="0" sz="2300" spc="-9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70" b="0">
                <a:solidFill>
                  <a:srgbClr val="D9D9D9"/>
                </a:solidFill>
                <a:latin typeface="Roboto"/>
                <a:cs typeface="Roboto"/>
              </a:rPr>
              <a:t>conversation</a:t>
            </a:r>
            <a:r>
              <a:rPr dirty="0" sz="2300" spc="-9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60" b="0">
                <a:solidFill>
                  <a:srgbClr val="D9D9D9"/>
                </a:solidFill>
                <a:latin typeface="Roboto"/>
                <a:cs typeface="Roboto"/>
              </a:rPr>
              <a:t>counts</a:t>
            </a:r>
            <a:r>
              <a:rPr dirty="0" sz="2300" spc="-9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50" b="0">
                <a:solidFill>
                  <a:srgbClr val="D9D9D9"/>
                </a:solidFill>
                <a:latin typeface="Roboto"/>
                <a:cs typeface="Roboto"/>
              </a:rPr>
              <a:t>and</a:t>
            </a:r>
            <a:r>
              <a:rPr dirty="0" sz="2300" spc="-8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60" b="0">
                <a:solidFill>
                  <a:srgbClr val="D9D9D9"/>
                </a:solidFill>
                <a:latin typeface="Roboto"/>
                <a:cs typeface="Roboto"/>
              </a:rPr>
              <a:t>usable</a:t>
            </a:r>
            <a:r>
              <a:rPr dirty="0" sz="2300" spc="-9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65" b="0">
                <a:solidFill>
                  <a:srgbClr val="D9D9D9"/>
                </a:solidFill>
                <a:latin typeface="Roboto"/>
                <a:cs typeface="Roboto"/>
              </a:rPr>
              <a:t>transcript</a:t>
            </a:r>
            <a:r>
              <a:rPr dirty="0" sz="2300" spc="-9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60" b="0">
                <a:solidFill>
                  <a:srgbClr val="D9D9D9"/>
                </a:solidFill>
                <a:latin typeface="Roboto"/>
                <a:cs typeface="Roboto"/>
              </a:rPr>
              <a:t>counts</a:t>
            </a:r>
            <a:r>
              <a:rPr dirty="0" sz="2300" spc="-9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25" b="0">
                <a:solidFill>
                  <a:srgbClr val="D9D9D9"/>
                </a:solidFill>
                <a:latin typeface="Roboto"/>
                <a:cs typeface="Roboto"/>
              </a:rPr>
              <a:t>per </a:t>
            </a:r>
            <a:r>
              <a:rPr dirty="0" sz="2300" spc="-65" b="0">
                <a:solidFill>
                  <a:srgbClr val="D9D9D9"/>
                </a:solidFill>
                <a:latin typeface="Roboto"/>
                <a:cs typeface="Roboto"/>
              </a:rPr>
              <a:t>person,</a:t>
            </a:r>
            <a:r>
              <a:rPr dirty="0" sz="230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40" b="0">
                <a:solidFill>
                  <a:srgbClr val="D9D9D9"/>
                </a:solidFill>
                <a:latin typeface="Roboto"/>
                <a:cs typeface="Roboto"/>
              </a:rPr>
              <a:t>no</a:t>
            </a:r>
            <a:r>
              <a:rPr dirty="0" sz="230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65" b="0">
                <a:solidFill>
                  <a:srgbClr val="D9D9D9"/>
                </a:solidFill>
                <a:latin typeface="Roboto"/>
                <a:cs typeface="Roboto"/>
              </a:rPr>
              <a:t>comparative</a:t>
            </a:r>
            <a:r>
              <a:rPr dirty="0" sz="230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65" b="0">
                <a:solidFill>
                  <a:srgbClr val="D9D9D9"/>
                </a:solidFill>
                <a:latin typeface="Roboto"/>
                <a:cs typeface="Roboto"/>
              </a:rPr>
              <a:t>conversion</a:t>
            </a:r>
            <a:r>
              <a:rPr dirty="0" sz="230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60" b="0">
                <a:solidFill>
                  <a:srgbClr val="D9D9D9"/>
                </a:solidFill>
                <a:latin typeface="Roboto"/>
                <a:cs typeface="Roboto"/>
              </a:rPr>
              <a:t>scores</a:t>
            </a:r>
            <a:r>
              <a:rPr dirty="0" sz="230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35" b="0">
                <a:solidFill>
                  <a:srgbClr val="D9D9D9"/>
                </a:solidFill>
                <a:latin typeface="Roboto"/>
                <a:cs typeface="Roboto"/>
              </a:rPr>
              <a:t>or</a:t>
            </a:r>
            <a:r>
              <a:rPr dirty="0" sz="230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300" spc="-10" b="0">
                <a:solidFill>
                  <a:srgbClr val="D9D9D9"/>
                </a:solidFill>
                <a:latin typeface="Roboto"/>
                <a:cs typeface="Roboto"/>
              </a:rPr>
              <a:t>rankings.</a:t>
            </a:r>
            <a:endParaRPr sz="2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60"/>
              </a:spcBef>
            </a:pPr>
            <a:endParaRPr sz="2300">
              <a:latin typeface="Roboto"/>
              <a:cs typeface="Roboto"/>
            </a:endParaRPr>
          </a:p>
          <a:p>
            <a:pPr marL="51435">
              <a:lnSpc>
                <a:spcPct val="100000"/>
              </a:lnSpc>
            </a:pPr>
            <a:r>
              <a:rPr dirty="0" spc="-25">
                <a:solidFill>
                  <a:srgbClr val="F5F5F5"/>
                </a:solidFill>
              </a:rPr>
              <a:t>Transparency</a:t>
            </a:r>
          </a:p>
          <a:p>
            <a:pPr marL="71120" marR="224154">
              <a:lnSpc>
                <a:spcPct val="109300"/>
              </a:lnSpc>
              <a:spcBef>
                <a:spcPts val="1095"/>
              </a:spcBef>
            </a:pPr>
            <a:r>
              <a:rPr dirty="0" sz="2250" spc="-70" b="0">
                <a:solidFill>
                  <a:srgbClr val="D9D9D9"/>
                </a:solidFill>
                <a:latin typeface="Roboto"/>
                <a:cs typeface="Roboto"/>
              </a:rPr>
              <a:t>Visual</a:t>
            </a:r>
            <a:r>
              <a:rPr dirty="0" sz="2250" spc="-10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75" b="0">
                <a:solidFill>
                  <a:srgbClr val="D9D9D9"/>
                </a:solidFill>
                <a:latin typeface="Roboto"/>
                <a:cs typeface="Roboto"/>
              </a:rPr>
              <a:t>footnote</a:t>
            </a:r>
            <a:r>
              <a:rPr dirty="0" sz="225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75" b="0">
                <a:solidFill>
                  <a:srgbClr val="D9D9D9"/>
                </a:solidFill>
                <a:latin typeface="Roboto"/>
                <a:cs typeface="Roboto"/>
              </a:rPr>
              <a:t>informs</a:t>
            </a:r>
            <a:r>
              <a:rPr dirty="0" sz="225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75" b="0">
                <a:solidFill>
                  <a:srgbClr val="D9D9D9"/>
                </a:solidFill>
                <a:latin typeface="Roboto"/>
                <a:cs typeface="Roboto"/>
              </a:rPr>
              <a:t>leadership</a:t>
            </a:r>
            <a:r>
              <a:rPr dirty="0" sz="225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65" b="0">
                <a:solidFill>
                  <a:srgbClr val="D9D9D9"/>
                </a:solidFill>
                <a:latin typeface="Roboto"/>
                <a:cs typeface="Roboto"/>
              </a:rPr>
              <a:t>that</a:t>
            </a:r>
            <a:r>
              <a:rPr dirty="0" sz="225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65" b="0">
                <a:solidFill>
                  <a:srgbClr val="D9D9D9"/>
                </a:solidFill>
                <a:latin typeface="Roboto"/>
                <a:cs typeface="Roboto"/>
              </a:rPr>
              <a:t>data</a:t>
            </a:r>
            <a:r>
              <a:rPr dirty="0" sz="225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50" b="0">
                <a:solidFill>
                  <a:srgbClr val="D9D9D9"/>
                </a:solidFill>
                <a:latin typeface="Roboto"/>
                <a:cs typeface="Roboto"/>
              </a:rPr>
              <a:t>is</a:t>
            </a:r>
            <a:r>
              <a:rPr dirty="0" sz="2250" spc="-95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45" b="0">
                <a:solidFill>
                  <a:srgbClr val="D9D9D9"/>
                </a:solidFill>
                <a:latin typeface="Roboto"/>
                <a:cs typeface="Roboto"/>
              </a:rPr>
              <a:t>operational </a:t>
            </a:r>
            <a:r>
              <a:rPr dirty="0" sz="2250" spc="-70" b="0">
                <a:solidFill>
                  <a:srgbClr val="D9D9D9"/>
                </a:solidFill>
                <a:latin typeface="Roboto"/>
                <a:cs typeface="Roboto"/>
              </a:rPr>
              <a:t>sample,</a:t>
            </a:r>
            <a:r>
              <a:rPr dirty="0" sz="2250" spc="-9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75" b="0">
                <a:solidFill>
                  <a:srgbClr val="D9D9D9"/>
                </a:solidFill>
                <a:latin typeface="Roboto"/>
                <a:cs typeface="Roboto"/>
              </a:rPr>
              <a:t>focusing</a:t>
            </a:r>
            <a:r>
              <a:rPr dirty="0" sz="2250" spc="-9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50" b="0">
                <a:solidFill>
                  <a:srgbClr val="D9D9D9"/>
                </a:solidFill>
                <a:latin typeface="Roboto"/>
                <a:cs typeface="Roboto"/>
              </a:rPr>
              <a:t>on</a:t>
            </a:r>
            <a:r>
              <a:rPr dirty="0" sz="2250" spc="-9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75" b="0">
                <a:solidFill>
                  <a:srgbClr val="D9D9D9"/>
                </a:solidFill>
                <a:latin typeface="Roboto"/>
                <a:cs typeface="Roboto"/>
              </a:rPr>
              <a:t>conversation</a:t>
            </a:r>
            <a:r>
              <a:rPr dirty="0" sz="2250" spc="-9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70" b="0">
                <a:solidFill>
                  <a:srgbClr val="D9D9D9"/>
                </a:solidFill>
                <a:latin typeface="Roboto"/>
                <a:cs typeface="Roboto"/>
              </a:rPr>
              <a:t>evidence,</a:t>
            </a:r>
            <a:r>
              <a:rPr dirty="0" sz="2250" spc="-9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60" b="0">
                <a:solidFill>
                  <a:srgbClr val="D9D9D9"/>
                </a:solidFill>
                <a:latin typeface="Roboto"/>
                <a:cs typeface="Roboto"/>
              </a:rPr>
              <a:t>not</a:t>
            </a:r>
            <a:r>
              <a:rPr dirty="0" sz="2250" spc="-90" b="0">
                <a:solidFill>
                  <a:srgbClr val="D9D9D9"/>
                </a:solidFill>
                <a:latin typeface="Roboto"/>
                <a:cs typeface="Roboto"/>
              </a:rPr>
              <a:t> </a:t>
            </a:r>
            <a:r>
              <a:rPr dirty="0" sz="2250" spc="-10" b="0">
                <a:solidFill>
                  <a:srgbClr val="D9D9D9"/>
                </a:solidFill>
                <a:latin typeface="Roboto"/>
                <a:cs typeface="Roboto"/>
              </a:rPr>
              <a:t>synthetic rankings.</a:t>
            </a:r>
            <a:endParaRPr sz="22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3914" y="445159"/>
            <a:ext cx="17249140" cy="8401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350" spc="-310">
                <a:solidFill>
                  <a:srgbClr val="F4F4F4"/>
                </a:solidFill>
              </a:rPr>
              <a:t>Import</a:t>
            </a:r>
            <a:r>
              <a:rPr dirty="0" sz="5350" spc="-675">
                <a:solidFill>
                  <a:srgbClr val="F4F4F4"/>
                </a:solidFill>
              </a:rPr>
              <a:t> </a:t>
            </a:r>
            <a:r>
              <a:rPr dirty="0" sz="5350" spc="-370">
                <a:solidFill>
                  <a:srgbClr val="F4F4F4"/>
                </a:solidFill>
              </a:rPr>
              <a:t>Deduplication,</a:t>
            </a:r>
            <a:r>
              <a:rPr dirty="0" sz="5350" spc="-675">
                <a:solidFill>
                  <a:srgbClr val="F4F4F4"/>
                </a:solidFill>
              </a:rPr>
              <a:t> </a:t>
            </a:r>
            <a:r>
              <a:rPr dirty="0" sz="5350" spc="-245">
                <a:solidFill>
                  <a:srgbClr val="F4F4F4"/>
                </a:solidFill>
              </a:rPr>
              <a:t>Revision</a:t>
            </a:r>
            <a:r>
              <a:rPr dirty="0" sz="5350" spc="-675">
                <a:solidFill>
                  <a:srgbClr val="F4F4F4"/>
                </a:solidFill>
              </a:rPr>
              <a:t> </a:t>
            </a:r>
            <a:r>
              <a:rPr dirty="0" sz="5350" spc="-305">
                <a:solidFill>
                  <a:srgbClr val="F4F4F4"/>
                </a:solidFill>
              </a:rPr>
              <a:t>Precedence</a:t>
            </a:r>
            <a:r>
              <a:rPr dirty="0" sz="5350" spc="-675">
                <a:solidFill>
                  <a:srgbClr val="F4F4F4"/>
                </a:solidFill>
              </a:rPr>
              <a:t> </a:t>
            </a:r>
            <a:r>
              <a:rPr dirty="0" sz="5350" spc="-305">
                <a:solidFill>
                  <a:srgbClr val="F4F4F4"/>
                </a:solidFill>
              </a:rPr>
              <a:t>&amp;</a:t>
            </a:r>
            <a:r>
              <a:rPr dirty="0" sz="5350" spc="-680">
                <a:solidFill>
                  <a:srgbClr val="F4F4F4"/>
                </a:solidFill>
              </a:rPr>
              <a:t> </a:t>
            </a:r>
            <a:r>
              <a:rPr dirty="0" sz="5350" spc="-270">
                <a:solidFill>
                  <a:srgbClr val="F4F4F4"/>
                </a:solidFill>
              </a:rPr>
              <a:t>Replay</a:t>
            </a:r>
            <a:r>
              <a:rPr dirty="0" sz="5350" spc="-675">
                <a:solidFill>
                  <a:srgbClr val="F4F4F4"/>
                </a:solidFill>
              </a:rPr>
              <a:t> </a:t>
            </a:r>
            <a:r>
              <a:rPr dirty="0" sz="5350" spc="-325">
                <a:solidFill>
                  <a:srgbClr val="F4F4F4"/>
                </a:solidFill>
              </a:rPr>
              <a:t>Contract</a:t>
            </a:r>
            <a:endParaRPr sz="53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081" y="1727254"/>
            <a:ext cx="3880549" cy="46577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63764" y="1656331"/>
            <a:ext cx="2174875" cy="2052320"/>
          </a:xfrm>
          <a:prstGeom prst="rect">
            <a:avLst/>
          </a:prstGeom>
        </p:spPr>
        <p:txBody>
          <a:bodyPr wrap="square" lIns="0" tIns="24955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964"/>
              </a:spcBef>
            </a:pPr>
            <a:r>
              <a:rPr dirty="0" sz="6050" spc="-25" b="1">
                <a:solidFill>
                  <a:srgbClr val="48BFF7"/>
                </a:solidFill>
                <a:latin typeface="Trebuchet MS"/>
                <a:cs typeface="Trebuchet MS"/>
              </a:rPr>
              <a:t>01</a:t>
            </a:r>
            <a:endParaRPr sz="6050">
              <a:latin typeface="Trebuchet MS"/>
              <a:cs typeface="Trebuchet MS"/>
            </a:endParaRPr>
          </a:p>
          <a:p>
            <a:pPr marL="12700" marR="5080">
              <a:lnSpc>
                <a:spcPts val="2950"/>
              </a:lnSpc>
              <a:spcBef>
                <a:spcPts val="1005"/>
              </a:spcBef>
            </a:pPr>
            <a:r>
              <a:rPr dirty="0" sz="2550" spc="-120" b="1">
                <a:solidFill>
                  <a:srgbClr val="F4F4F4"/>
                </a:solidFill>
                <a:latin typeface="Trebuchet MS"/>
                <a:cs typeface="Trebuchet MS"/>
              </a:rPr>
              <a:t>Initial</a:t>
            </a:r>
            <a:r>
              <a:rPr dirty="0" sz="2550" spc="-220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55" b="1">
                <a:solidFill>
                  <a:srgbClr val="F4F4F4"/>
                </a:solidFill>
                <a:latin typeface="Trebuchet MS"/>
                <a:cs typeface="Trebuchet MS"/>
              </a:rPr>
              <a:t>Ingestion </a:t>
            </a:r>
            <a:r>
              <a:rPr dirty="0" sz="2550" spc="-60" b="1">
                <a:solidFill>
                  <a:srgbClr val="F4F4F4"/>
                </a:solidFill>
                <a:latin typeface="Trebuchet MS"/>
                <a:cs typeface="Trebuchet MS"/>
              </a:rPr>
              <a:t>(01Initial.json)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4581" y="3992683"/>
            <a:ext cx="3065145" cy="1989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2700"/>
              </a:lnSpc>
              <a:spcBef>
                <a:spcPts val="95"/>
              </a:spcBef>
            </a:pPr>
            <a:r>
              <a:rPr dirty="0" sz="2100" spc="-30">
                <a:solidFill>
                  <a:srgbClr val="F4F4F4"/>
                </a:solidFill>
                <a:latin typeface="Roboto"/>
                <a:cs typeface="Roboto"/>
              </a:rPr>
              <a:t>44</a:t>
            </a:r>
            <a:r>
              <a:rPr dirty="0" sz="210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00" spc="-55">
                <a:solidFill>
                  <a:srgbClr val="F4F4F4"/>
                </a:solidFill>
                <a:latin typeface="Roboto"/>
                <a:cs typeface="Roboto"/>
              </a:rPr>
              <a:t>logical</a:t>
            </a:r>
            <a:r>
              <a:rPr dirty="0" sz="210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00" spc="-50">
                <a:solidFill>
                  <a:srgbClr val="F4F4F4"/>
                </a:solidFill>
                <a:latin typeface="Roboto"/>
                <a:cs typeface="Roboto"/>
              </a:rPr>
              <a:t>records</a:t>
            </a:r>
            <a:r>
              <a:rPr dirty="0" sz="210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00" spc="-45">
                <a:solidFill>
                  <a:srgbClr val="F4F4F4"/>
                </a:solidFill>
                <a:latin typeface="Roboto"/>
                <a:cs typeface="Roboto"/>
              </a:rPr>
              <a:t>ingested </a:t>
            </a:r>
            <a:r>
              <a:rPr dirty="0" sz="2100" spc="-40">
                <a:solidFill>
                  <a:srgbClr val="F4F4F4"/>
                </a:solidFill>
                <a:latin typeface="Roboto"/>
                <a:cs typeface="Roboto"/>
              </a:rPr>
              <a:t>(30</a:t>
            </a:r>
            <a:r>
              <a:rPr dirty="0" sz="2100" spc="-10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00" spc="-50">
                <a:solidFill>
                  <a:srgbClr val="F4F4F4"/>
                </a:solidFill>
                <a:latin typeface="Roboto"/>
                <a:cs typeface="Roboto"/>
              </a:rPr>
              <a:t>calls,</a:t>
            </a:r>
            <a:r>
              <a:rPr dirty="0" sz="2100" spc="-9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00" spc="-30">
                <a:solidFill>
                  <a:srgbClr val="F4F4F4"/>
                </a:solidFill>
                <a:latin typeface="Roboto"/>
                <a:cs typeface="Roboto"/>
              </a:rPr>
              <a:t>14</a:t>
            </a:r>
            <a:r>
              <a:rPr dirty="0" sz="2100" spc="-10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00" spc="-10">
                <a:solidFill>
                  <a:srgbClr val="F4F4F4"/>
                </a:solidFill>
                <a:latin typeface="Roboto"/>
                <a:cs typeface="Roboto"/>
              </a:rPr>
              <a:t>meetings).</a:t>
            </a:r>
            <a:endParaRPr sz="2100">
              <a:latin typeface="Roboto"/>
              <a:cs typeface="Roboto"/>
            </a:endParaRPr>
          </a:p>
          <a:p>
            <a:pPr marL="12700" marR="373380">
              <a:lnSpc>
                <a:spcPct val="122700"/>
              </a:lnSpc>
            </a:pPr>
            <a:r>
              <a:rPr dirty="0" sz="2100" spc="-30">
                <a:solidFill>
                  <a:srgbClr val="F4F4F4"/>
                </a:solidFill>
                <a:latin typeface="Roboto"/>
                <a:cs typeface="Roboto"/>
              </a:rPr>
              <a:t>17</a:t>
            </a:r>
            <a:r>
              <a:rPr dirty="0" sz="2100" spc="-10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00" spc="-45">
                <a:solidFill>
                  <a:srgbClr val="F4F4F4"/>
                </a:solidFill>
                <a:latin typeface="Roboto"/>
                <a:cs typeface="Roboto"/>
              </a:rPr>
              <a:t>have</a:t>
            </a:r>
            <a:r>
              <a:rPr dirty="0" sz="2100" spc="-9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00" spc="-50">
                <a:solidFill>
                  <a:srgbClr val="F4F4F4"/>
                </a:solidFill>
                <a:latin typeface="Roboto"/>
                <a:cs typeface="Roboto"/>
              </a:rPr>
              <a:t>usable</a:t>
            </a:r>
            <a:r>
              <a:rPr dirty="0" sz="2100" spc="-9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00" spc="-20">
                <a:solidFill>
                  <a:srgbClr val="F4F4F4"/>
                </a:solidFill>
                <a:latin typeface="Roboto"/>
                <a:cs typeface="Roboto"/>
              </a:rPr>
              <a:t>text. </a:t>
            </a:r>
            <a:r>
              <a:rPr dirty="0" sz="2100" spc="-45">
                <a:solidFill>
                  <a:srgbClr val="F4F4F4"/>
                </a:solidFill>
                <a:latin typeface="Roboto"/>
                <a:cs typeface="Roboto"/>
              </a:rPr>
              <a:t>M07</a:t>
            </a:r>
            <a:r>
              <a:rPr dirty="0" sz="2100" spc="-7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00" spc="-55">
                <a:solidFill>
                  <a:srgbClr val="F4F4F4"/>
                </a:solidFill>
                <a:latin typeface="Roboto"/>
                <a:cs typeface="Roboto"/>
              </a:rPr>
              <a:t>transcript</a:t>
            </a:r>
            <a:r>
              <a:rPr dirty="0" sz="2100" spc="-7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00" spc="-45">
                <a:solidFill>
                  <a:srgbClr val="F4F4F4"/>
                </a:solidFill>
                <a:latin typeface="Roboto"/>
                <a:cs typeface="Roboto"/>
              </a:rPr>
              <a:t>withheld </a:t>
            </a:r>
            <a:r>
              <a:rPr dirty="0" sz="2100" spc="-55">
                <a:solidFill>
                  <a:srgbClr val="F4F4F4"/>
                </a:solidFill>
                <a:latin typeface="Roboto"/>
                <a:cs typeface="Roboto"/>
              </a:rPr>
              <a:t>(Revision</a:t>
            </a:r>
            <a:r>
              <a:rPr dirty="0" sz="210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00" spc="-25">
                <a:solidFill>
                  <a:srgbClr val="F4F4F4"/>
                </a:solidFill>
                <a:latin typeface="Roboto"/>
                <a:cs typeface="Roboto"/>
              </a:rPr>
              <a:t>1).</a:t>
            </a:r>
            <a:endParaRPr sz="21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28248" y="1727254"/>
            <a:ext cx="4388485" cy="4657725"/>
            <a:chOff x="4528248" y="1727254"/>
            <a:chExt cx="4388485" cy="465772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8248" y="3454507"/>
              <a:ext cx="482220" cy="2381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20449" y="1727254"/>
              <a:ext cx="3895725" cy="46577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374597" y="1656331"/>
            <a:ext cx="2390775" cy="2052320"/>
          </a:xfrm>
          <a:prstGeom prst="rect">
            <a:avLst/>
          </a:prstGeom>
        </p:spPr>
        <p:txBody>
          <a:bodyPr wrap="square" lIns="0" tIns="249554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1964"/>
              </a:spcBef>
            </a:pPr>
            <a:r>
              <a:rPr dirty="0" sz="6050" spc="-25" b="1">
                <a:solidFill>
                  <a:srgbClr val="48BFF7"/>
                </a:solidFill>
                <a:latin typeface="Trebuchet MS"/>
                <a:cs typeface="Trebuchet MS"/>
              </a:rPr>
              <a:t>02</a:t>
            </a:r>
            <a:endParaRPr sz="6050">
              <a:latin typeface="Trebuchet MS"/>
              <a:cs typeface="Trebuchet MS"/>
            </a:endParaRPr>
          </a:p>
          <a:p>
            <a:pPr marL="12700" marR="5080">
              <a:lnSpc>
                <a:spcPts val="2950"/>
              </a:lnSpc>
              <a:spcBef>
                <a:spcPts val="1005"/>
              </a:spcBef>
            </a:pPr>
            <a:r>
              <a:rPr dirty="0" sz="2550" spc="-110" b="1">
                <a:solidFill>
                  <a:srgbClr val="F4F4F4"/>
                </a:solidFill>
                <a:latin typeface="Trebuchet MS"/>
                <a:cs typeface="Trebuchet MS"/>
              </a:rPr>
              <a:t>Repeat</a:t>
            </a:r>
            <a:r>
              <a:rPr dirty="0" sz="2550" spc="-204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55" b="1">
                <a:solidFill>
                  <a:srgbClr val="F4F4F4"/>
                </a:solidFill>
                <a:latin typeface="Trebuchet MS"/>
                <a:cs typeface="Trebuchet MS"/>
              </a:rPr>
              <a:t>Ingestion </a:t>
            </a:r>
            <a:r>
              <a:rPr dirty="0" sz="2550" spc="-30" b="1">
                <a:solidFill>
                  <a:srgbClr val="F4F4F4"/>
                </a:solidFill>
                <a:latin typeface="Trebuchet MS"/>
                <a:cs typeface="Trebuchet MS"/>
              </a:rPr>
              <a:t>(dempotency)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67618" y="3974047"/>
            <a:ext cx="3061970" cy="1525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6099"/>
              </a:lnSpc>
              <a:spcBef>
                <a:spcPts val="90"/>
              </a:spcBef>
            </a:pPr>
            <a:r>
              <a:rPr dirty="0" sz="1950" spc="-50">
                <a:solidFill>
                  <a:srgbClr val="F4F4F4"/>
                </a:solidFill>
                <a:latin typeface="Roboto"/>
                <a:cs typeface="Roboto"/>
              </a:rPr>
              <a:t>Re-</a:t>
            </a:r>
            <a:r>
              <a:rPr dirty="0" sz="1950" spc="-40">
                <a:solidFill>
                  <a:srgbClr val="F4F4F4"/>
                </a:solidFill>
                <a:latin typeface="Roboto"/>
                <a:cs typeface="Roboto"/>
              </a:rPr>
              <a:t>importing</a:t>
            </a:r>
            <a:r>
              <a:rPr dirty="0" sz="1950" spc="-5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1950" spc="-35">
                <a:solidFill>
                  <a:srgbClr val="F4F4F4"/>
                </a:solidFill>
                <a:latin typeface="Roboto"/>
                <a:cs typeface="Roboto"/>
              </a:rPr>
              <a:t>01Initial.jsonon </a:t>
            </a:r>
            <a:r>
              <a:rPr dirty="0" sz="1950" spc="-40">
                <a:solidFill>
                  <a:srgbClr val="F4F4F4"/>
                </a:solidFill>
                <a:latin typeface="Roboto"/>
                <a:cs typeface="Roboto"/>
              </a:rPr>
              <a:t>yields</a:t>
            </a:r>
            <a:r>
              <a:rPr dirty="0" sz="19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1950">
                <a:solidFill>
                  <a:srgbClr val="F4F4F4"/>
                </a:solidFill>
                <a:latin typeface="Roboto"/>
                <a:cs typeface="Roboto"/>
              </a:rPr>
              <a:t>0</a:t>
            </a:r>
            <a:r>
              <a:rPr dirty="0" sz="19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1950" spc="-20">
                <a:solidFill>
                  <a:srgbClr val="F4F4F4"/>
                </a:solidFill>
                <a:latin typeface="Roboto"/>
                <a:cs typeface="Roboto"/>
              </a:rPr>
              <a:t>new</a:t>
            </a:r>
            <a:r>
              <a:rPr dirty="0" sz="1950" spc="-8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1950" spc="-10">
                <a:solidFill>
                  <a:srgbClr val="F4F4F4"/>
                </a:solidFill>
                <a:latin typeface="Roboto"/>
                <a:cs typeface="Roboto"/>
              </a:rPr>
              <a:t>records,</a:t>
            </a:r>
            <a:endParaRPr sz="1950">
              <a:latin typeface="Roboto"/>
              <a:cs typeface="Roboto"/>
            </a:endParaRPr>
          </a:p>
          <a:p>
            <a:pPr marL="12700" marR="900430">
              <a:lnSpc>
                <a:spcPct val="126099"/>
              </a:lnSpc>
              <a:spcBef>
                <a:spcPts val="5"/>
              </a:spcBef>
            </a:pPr>
            <a:r>
              <a:rPr dirty="0" sz="1950" spc="-10">
                <a:solidFill>
                  <a:srgbClr val="F4F4F4"/>
                </a:solidFill>
                <a:latin typeface="Roboto"/>
                <a:cs typeface="Roboto"/>
              </a:rPr>
              <a:t>44</a:t>
            </a:r>
            <a:r>
              <a:rPr dirty="0" sz="1950" spc="-7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1950" spc="-45">
                <a:solidFill>
                  <a:srgbClr val="F4F4F4"/>
                </a:solidFill>
                <a:latin typeface="Roboto"/>
                <a:cs typeface="Roboto"/>
              </a:rPr>
              <a:t>unchanged</a:t>
            </a:r>
            <a:r>
              <a:rPr dirty="0" sz="1950" spc="-7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1950" spc="-20">
                <a:solidFill>
                  <a:srgbClr val="F4F4F4"/>
                </a:solidFill>
                <a:latin typeface="Roboto"/>
                <a:cs typeface="Roboto"/>
              </a:rPr>
              <a:t>rows, </a:t>
            </a:r>
            <a:r>
              <a:rPr dirty="0" sz="1950" spc="-30">
                <a:solidFill>
                  <a:srgbClr val="F4F4F4"/>
                </a:solidFill>
                <a:latin typeface="Roboto"/>
                <a:cs typeface="Roboto"/>
              </a:rPr>
              <a:t>zero</a:t>
            </a:r>
            <a:r>
              <a:rPr dirty="0" sz="1950" spc="-9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1950" spc="-10">
                <a:solidFill>
                  <a:srgbClr val="F4F4F4"/>
                </a:solidFill>
                <a:latin typeface="Roboto"/>
                <a:cs typeface="Roboto"/>
              </a:rPr>
              <a:t>duplicates.</a:t>
            </a:r>
            <a:endParaRPr sz="195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848679" y="1727254"/>
            <a:ext cx="4369435" cy="4657725"/>
            <a:chOff x="8848679" y="1727254"/>
            <a:chExt cx="4369435" cy="465772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48679" y="3454507"/>
              <a:ext cx="495299" cy="2381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40880" y="1727254"/>
              <a:ext cx="3876674" cy="46577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665148" y="1656331"/>
            <a:ext cx="1969770" cy="2052320"/>
          </a:xfrm>
          <a:prstGeom prst="rect">
            <a:avLst/>
          </a:prstGeom>
        </p:spPr>
        <p:txBody>
          <a:bodyPr wrap="square" lIns="0" tIns="249554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964"/>
              </a:spcBef>
            </a:pPr>
            <a:r>
              <a:rPr dirty="0" sz="6050" spc="-25" b="1">
                <a:solidFill>
                  <a:srgbClr val="48BFF7"/>
                </a:solidFill>
                <a:latin typeface="Trebuchet MS"/>
                <a:cs typeface="Trebuchet MS"/>
              </a:rPr>
              <a:t>03</a:t>
            </a:r>
            <a:endParaRPr sz="6050">
              <a:latin typeface="Trebuchet MS"/>
              <a:cs typeface="Trebuchet MS"/>
            </a:endParaRPr>
          </a:p>
          <a:p>
            <a:pPr marL="12700" marR="5080">
              <a:lnSpc>
                <a:spcPts val="2950"/>
              </a:lnSpc>
              <a:spcBef>
                <a:spcPts val="1005"/>
              </a:spcBef>
            </a:pPr>
            <a:r>
              <a:rPr dirty="0" sz="2550" spc="-40" b="1">
                <a:solidFill>
                  <a:srgbClr val="F4F4F4"/>
                </a:solidFill>
                <a:latin typeface="Trebuchet MS"/>
                <a:cs typeface="Trebuchet MS"/>
              </a:rPr>
              <a:t>Manual</a:t>
            </a:r>
            <a:r>
              <a:rPr dirty="0" sz="2550" spc="-204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90" b="1">
                <a:solidFill>
                  <a:srgbClr val="F4F4F4"/>
                </a:solidFill>
                <a:latin typeface="Trebuchet MS"/>
                <a:cs typeface="Trebuchet MS"/>
              </a:rPr>
              <a:t>Route </a:t>
            </a:r>
            <a:r>
              <a:rPr dirty="0" sz="2550" spc="-20" b="1">
                <a:solidFill>
                  <a:srgbClr val="F4F4F4"/>
                </a:solidFill>
                <a:latin typeface="Trebuchet MS"/>
                <a:cs typeface="Trebuchet MS"/>
              </a:rPr>
              <a:t>Correction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51947" y="3992191"/>
            <a:ext cx="3240405" cy="1525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Manager</a:t>
            </a:r>
            <a:r>
              <a:rPr dirty="0" sz="2050" spc="-7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overrides</a:t>
            </a:r>
            <a:r>
              <a:rPr dirty="0" sz="2050" spc="-7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4F4F4"/>
                </a:solidFill>
                <a:latin typeface="Roboto"/>
                <a:cs typeface="Roboto"/>
              </a:rPr>
              <a:t>record </a:t>
            </a:r>
            <a:r>
              <a:rPr dirty="0" sz="2050" spc="-45">
                <a:solidFill>
                  <a:srgbClr val="F4F4F4"/>
                </a:solidFill>
                <a:latin typeface="Roboto"/>
                <a:cs typeface="Roboto"/>
              </a:rPr>
              <a:t>M07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45">
                <a:solidFill>
                  <a:srgbClr val="F4F4F4"/>
                </a:solidFill>
                <a:latin typeface="Roboto"/>
                <a:cs typeface="Roboto"/>
              </a:rPr>
              <a:t>to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5">
                <a:solidFill>
                  <a:srgbClr val="F4F4F4"/>
                </a:solidFill>
                <a:latin typeface="Roboto"/>
                <a:cs typeface="Roboto"/>
              </a:rPr>
              <a:t>Partnership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4F4F4"/>
                </a:solidFill>
                <a:latin typeface="Roboto"/>
                <a:cs typeface="Roboto"/>
              </a:rPr>
              <a:t>/</a:t>
            </a:r>
            <a:r>
              <a:rPr dirty="0" sz="2050" spc="-8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45">
                <a:solidFill>
                  <a:srgbClr val="F4F4F4"/>
                </a:solidFill>
                <a:latin typeface="Roboto"/>
                <a:cs typeface="Roboto"/>
              </a:rPr>
              <a:t>Channel </a:t>
            </a:r>
            <a:r>
              <a:rPr dirty="0" sz="2050" spc="-50">
                <a:solidFill>
                  <a:srgbClr val="F4F4F4"/>
                </a:solidFill>
                <a:latin typeface="Roboto"/>
                <a:cs typeface="Roboto"/>
              </a:rPr>
              <a:t>and</a:t>
            </a:r>
            <a:r>
              <a:rPr dirty="0" sz="2050" spc="-9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4F4F4"/>
                </a:solidFill>
                <a:latin typeface="Roboto"/>
                <a:cs typeface="Roboto"/>
              </a:rPr>
              <a:t>Human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4F4F4"/>
                </a:solidFill>
                <a:latin typeface="Roboto"/>
                <a:cs typeface="Roboto"/>
              </a:rPr>
              <a:t>Review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4F4F4"/>
                </a:solidFill>
                <a:latin typeface="Roboto"/>
                <a:cs typeface="Roboto"/>
              </a:rPr>
              <a:t>Needed; </a:t>
            </a:r>
            <a:r>
              <a:rPr dirty="0" sz="2050" spc="-50">
                <a:solidFill>
                  <a:srgbClr val="F4F4F4"/>
                </a:solidFill>
                <a:latin typeface="Roboto"/>
                <a:cs typeface="Roboto"/>
              </a:rPr>
              <a:t>flag</a:t>
            </a:r>
            <a:r>
              <a:rPr dirty="0" sz="2050" spc="-10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4F4F4"/>
                </a:solidFill>
                <a:latin typeface="Roboto"/>
                <a:cs typeface="Roboto"/>
              </a:rPr>
              <a:t>set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50">
                <a:solidFill>
                  <a:srgbClr val="F4F4F4"/>
                </a:solidFill>
                <a:latin typeface="Roboto"/>
                <a:cs typeface="Roboto"/>
              </a:rPr>
              <a:t>true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45">
                <a:solidFill>
                  <a:srgbClr val="F4F4F4"/>
                </a:solidFill>
                <a:latin typeface="Roboto"/>
                <a:cs typeface="Roboto"/>
              </a:rPr>
              <a:t>in</a:t>
            </a:r>
            <a:r>
              <a:rPr dirty="0" sz="2050" spc="-9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4F4F4"/>
                </a:solidFill>
                <a:latin typeface="Roboto"/>
                <a:cs typeface="Roboto"/>
              </a:rPr>
              <a:t>IndexedDB.</a:t>
            </a:r>
            <a:endParaRPr sz="205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147234" y="1738185"/>
            <a:ext cx="4272280" cy="4648200"/>
            <a:chOff x="13147234" y="1738185"/>
            <a:chExt cx="4272280" cy="464820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147234" y="3454507"/>
              <a:ext cx="485774" cy="2381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628495" y="1738185"/>
              <a:ext cx="3790949" cy="46481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3913704" y="1656331"/>
            <a:ext cx="3017520" cy="4535170"/>
          </a:xfrm>
          <a:prstGeom prst="rect">
            <a:avLst/>
          </a:prstGeom>
        </p:spPr>
        <p:txBody>
          <a:bodyPr wrap="square" lIns="0" tIns="249554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1964"/>
              </a:spcBef>
            </a:pPr>
            <a:r>
              <a:rPr dirty="0" sz="6050" spc="-25" b="1">
                <a:solidFill>
                  <a:srgbClr val="48BFF7"/>
                </a:solidFill>
                <a:latin typeface="Trebuchet MS"/>
                <a:cs typeface="Trebuchet MS"/>
              </a:rPr>
              <a:t>04</a:t>
            </a:r>
            <a:endParaRPr sz="6050">
              <a:latin typeface="Trebuchet MS"/>
              <a:cs typeface="Trebuchet MS"/>
            </a:endParaRPr>
          </a:p>
          <a:p>
            <a:pPr marL="13335" marR="56515">
              <a:lnSpc>
                <a:spcPts val="2950"/>
              </a:lnSpc>
              <a:spcBef>
                <a:spcPts val="1005"/>
              </a:spcBef>
            </a:pPr>
            <a:r>
              <a:rPr dirty="0" sz="2550" spc="-75" b="1">
                <a:solidFill>
                  <a:srgbClr val="F4F4F4"/>
                </a:solidFill>
                <a:latin typeface="Trebuchet MS"/>
                <a:cs typeface="Trebuchet MS"/>
              </a:rPr>
              <a:t>Revision</a:t>
            </a:r>
            <a:r>
              <a:rPr dirty="0" sz="2550" spc="-185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90" b="1">
                <a:solidFill>
                  <a:srgbClr val="F4F4F4"/>
                </a:solidFill>
                <a:latin typeface="Trebuchet MS"/>
                <a:cs typeface="Trebuchet MS"/>
              </a:rPr>
              <a:t>Precedence </a:t>
            </a:r>
            <a:r>
              <a:rPr dirty="0" sz="2550" spc="-135" b="1">
                <a:solidFill>
                  <a:srgbClr val="F4F4F4"/>
                </a:solidFill>
                <a:latin typeface="Trebuchet MS"/>
                <a:cs typeface="Trebuchet MS"/>
              </a:rPr>
              <a:t>&amp;</a:t>
            </a:r>
            <a:r>
              <a:rPr dirty="0" sz="2550" spc="-254" b="1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dirty="0" sz="2550" spc="-20" b="1">
                <a:solidFill>
                  <a:srgbClr val="F4F4F4"/>
                </a:solidFill>
                <a:latin typeface="Trebuchet MS"/>
                <a:cs typeface="Trebuchet MS"/>
              </a:rPr>
              <a:t>Preservation</a:t>
            </a:r>
            <a:endParaRPr sz="2550">
              <a:latin typeface="Trebuchet MS"/>
              <a:cs typeface="Trebuchet MS"/>
            </a:endParaRPr>
          </a:p>
          <a:p>
            <a:pPr marL="12700" marR="557530">
              <a:lnSpc>
                <a:spcPct val="120000"/>
              </a:lnSpc>
              <a:spcBef>
                <a:spcPts val="1770"/>
              </a:spcBef>
            </a:pPr>
            <a:r>
              <a:rPr dirty="0" sz="2050" spc="-45">
                <a:solidFill>
                  <a:srgbClr val="F4F4F4"/>
                </a:solidFill>
                <a:latin typeface="Roboto"/>
                <a:cs typeface="Roboto"/>
              </a:rPr>
              <a:t>02</a:t>
            </a:r>
            <a:r>
              <a:rPr dirty="0" sz="2050" spc="-9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4F4F4"/>
                </a:solidFill>
                <a:latin typeface="Roboto"/>
                <a:cs typeface="Roboto"/>
              </a:rPr>
              <a:t>Update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4F4F4"/>
                </a:solidFill>
                <a:latin typeface="Roboto"/>
                <a:cs typeface="Roboto"/>
              </a:rPr>
              <a:t>json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45">
                <a:solidFill>
                  <a:srgbClr val="F4F4F4"/>
                </a:solidFill>
                <a:latin typeface="Roboto"/>
                <a:cs typeface="Roboto"/>
              </a:rPr>
              <a:t>arrives </a:t>
            </a:r>
            <a:r>
              <a:rPr dirty="0" sz="2050" spc="-65">
                <a:solidFill>
                  <a:srgbClr val="F4F4F4"/>
                </a:solidFill>
                <a:latin typeface="Roboto"/>
                <a:cs typeface="Roboto"/>
              </a:rPr>
              <a:t>(Revision</a:t>
            </a:r>
            <a:r>
              <a:rPr dirty="0" sz="2050" spc="-4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25">
                <a:solidFill>
                  <a:srgbClr val="F4F4F4"/>
                </a:solidFill>
                <a:latin typeface="Roboto"/>
                <a:cs typeface="Roboto"/>
              </a:rPr>
              <a:t>2).</a:t>
            </a:r>
            <a:endParaRPr sz="20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Records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remain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25">
                <a:solidFill>
                  <a:srgbClr val="F4F4F4"/>
                </a:solidFill>
                <a:latin typeface="Roboto"/>
                <a:cs typeface="Roboto"/>
              </a:rPr>
              <a:t>44;</a:t>
            </a:r>
            <a:endParaRPr sz="2050">
              <a:latin typeface="Roboto"/>
              <a:cs typeface="Roboto"/>
            </a:endParaRPr>
          </a:p>
          <a:p>
            <a:pPr marL="12700" marR="5080">
              <a:lnSpc>
                <a:spcPct val="120000"/>
              </a:lnSpc>
            </a:pPr>
            <a:r>
              <a:rPr dirty="0" sz="2050" spc="-55">
                <a:solidFill>
                  <a:srgbClr val="F4F4F4"/>
                </a:solidFill>
                <a:latin typeface="Roboto"/>
                <a:cs typeface="Roboto"/>
              </a:rPr>
              <a:t>usable</a:t>
            </a:r>
            <a:r>
              <a:rPr dirty="0" sz="2050" spc="-10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55">
                <a:solidFill>
                  <a:srgbClr val="F4F4F4"/>
                </a:solidFill>
                <a:latin typeface="Roboto"/>
                <a:cs typeface="Roboto"/>
              </a:rPr>
              <a:t>texts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increase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45">
                <a:solidFill>
                  <a:srgbClr val="F4F4F4"/>
                </a:solidFill>
                <a:latin typeface="Roboto"/>
                <a:cs typeface="Roboto"/>
              </a:rPr>
              <a:t>to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25">
                <a:solidFill>
                  <a:srgbClr val="F4F4F4"/>
                </a:solidFill>
                <a:latin typeface="Roboto"/>
                <a:cs typeface="Roboto"/>
              </a:rPr>
              <a:t>18. </a:t>
            </a:r>
            <a:r>
              <a:rPr dirty="0" sz="2050" spc="-50">
                <a:solidFill>
                  <a:srgbClr val="F4F4F4"/>
                </a:solidFill>
                <a:latin typeface="Roboto"/>
                <a:cs typeface="Roboto"/>
              </a:rPr>
              <a:t>Manual</a:t>
            </a:r>
            <a:r>
              <a:rPr dirty="0" sz="2050" spc="-9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60">
                <a:solidFill>
                  <a:srgbClr val="F4F4F4"/>
                </a:solidFill>
                <a:latin typeface="Roboto"/>
                <a:cs typeface="Roboto"/>
              </a:rPr>
              <a:t>override</a:t>
            </a:r>
            <a:r>
              <a:rPr dirty="0" sz="20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4F4F4"/>
                </a:solidFill>
                <a:latin typeface="Roboto"/>
                <a:cs typeface="Roboto"/>
              </a:rPr>
              <a:t>preserved strictly.</a:t>
            </a:r>
            <a:endParaRPr sz="2050">
              <a:latin typeface="Roboto"/>
              <a:cs typeface="Robo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7205" y="6602920"/>
            <a:ext cx="16754475" cy="3254375"/>
            <a:chOff x="667205" y="6602920"/>
            <a:chExt cx="16754475" cy="325437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7205" y="6602920"/>
              <a:ext cx="16754474" cy="325408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6277" y="7346295"/>
              <a:ext cx="85724" cy="82867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325217" y="7263866"/>
            <a:ext cx="2796540" cy="93408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 marR="5080">
              <a:lnSpc>
                <a:spcPts val="3510"/>
              </a:lnSpc>
              <a:spcBef>
                <a:spcPts val="320"/>
              </a:spcBef>
            </a:pPr>
            <a:r>
              <a:rPr dirty="0" sz="3000" spc="-30" b="1">
                <a:solidFill>
                  <a:srgbClr val="48BFF7"/>
                </a:solidFill>
                <a:latin typeface="Trebuchet MS"/>
                <a:cs typeface="Trebuchet MS"/>
              </a:rPr>
              <a:t>VERIFICATION</a:t>
            </a:r>
            <a:r>
              <a:rPr dirty="0" sz="3000" spc="-204" b="1">
                <a:solidFill>
                  <a:srgbClr val="48BFF7"/>
                </a:solidFill>
                <a:latin typeface="Trebuchet MS"/>
                <a:cs typeface="Trebuchet MS"/>
              </a:rPr>
              <a:t> </a:t>
            </a:r>
            <a:r>
              <a:rPr dirty="0" sz="3000" spc="-50" b="1">
                <a:solidFill>
                  <a:srgbClr val="48BFF7"/>
                </a:solidFill>
                <a:latin typeface="Trebuchet MS"/>
                <a:cs typeface="Trebuchet MS"/>
              </a:rPr>
              <a:t>&amp; </a:t>
            </a:r>
            <a:r>
              <a:rPr dirty="0" sz="3000" spc="-10" b="1">
                <a:solidFill>
                  <a:srgbClr val="48BFF7"/>
                </a:solidFill>
                <a:latin typeface="Trebuchet MS"/>
                <a:cs typeface="Trebuchet MS"/>
              </a:rPr>
              <a:t>DELIVERABLES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53262" y="6876219"/>
            <a:ext cx="28574" cy="271462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437094" y="6868327"/>
            <a:ext cx="9271000" cy="166370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2150" spc="-20" b="1">
                <a:solidFill>
                  <a:srgbClr val="48BFF7"/>
                </a:solidFill>
                <a:latin typeface="Trebuchet MS"/>
                <a:cs typeface="Trebuchet MS"/>
              </a:rPr>
              <a:t>6</a:t>
            </a:r>
            <a:r>
              <a:rPr dirty="0" sz="2150" spc="-190" b="1">
                <a:solidFill>
                  <a:srgbClr val="48BFF7"/>
                </a:solidFill>
                <a:latin typeface="Trebuchet MS"/>
                <a:cs typeface="Trebuchet MS"/>
              </a:rPr>
              <a:t> </a:t>
            </a:r>
            <a:r>
              <a:rPr dirty="0" sz="2150" spc="-80" b="1">
                <a:solidFill>
                  <a:srgbClr val="48BFF7"/>
                </a:solidFill>
                <a:latin typeface="Trebuchet MS"/>
                <a:cs typeface="Trebuchet MS"/>
              </a:rPr>
              <a:t>Automated</a:t>
            </a:r>
            <a:r>
              <a:rPr dirty="0" sz="2150" spc="-190" b="1">
                <a:solidFill>
                  <a:srgbClr val="48BFF7"/>
                </a:solidFill>
                <a:latin typeface="Trebuchet MS"/>
                <a:cs typeface="Trebuchet MS"/>
              </a:rPr>
              <a:t> </a:t>
            </a:r>
            <a:r>
              <a:rPr dirty="0" sz="2150" spc="-70" b="1">
                <a:solidFill>
                  <a:srgbClr val="48BFF7"/>
                </a:solidFill>
                <a:latin typeface="Trebuchet MS"/>
                <a:cs typeface="Trebuchet MS"/>
              </a:rPr>
              <a:t>Vitest</a:t>
            </a:r>
            <a:r>
              <a:rPr dirty="0" sz="2150" spc="-185" b="1">
                <a:solidFill>
                  <a:srgbClr val="48BFF7"/>
                </a:solidFill>
                <a:latin typeface="Trebuchet MS"/>
                <a:cs typeface="Trebuchet MS"/>
              </a:rPr>
              <a:t> </a:t>
            </a:r>
            <a:r>
              <a:rPr dirty="0" sz="2150" b="1">
                <a:solidFill>
                  <a:srgbClr val="48BFF7"/>
                </a:solidFill>
                <a:latin typeface="Trebuchet MS"/>
                <a:cs typeface="Trebuchet MS"/>
              </a:rPr>
              <a:t>Tests</a:t>
            </a:r>
            <a:r>
              <a:rPr dirty="0" sz="2150" spc="-190" b="1">
                <a:solidFill>
                  <a:srgbClr val="48BFF7"/>
                </a:solidFill>
                <a:latin typeface="Trebuchet MS"/>
                <a:cs typeface="Trebuchet MS"/>
              </a:rPr>
              <a:t> </a:t>
            </a:r>
            <a:r>
              <a:rPr dirty="0" sz="2150" b="1">
                <a:solidFill>
                  <a:srgbClr val="48BFF7"/>
                </a:solidFill>
                <a:latin typeface="Trebuchet MS"/>
                <a:cs typeface="Trebuchet MS"/>
              </a:rPr>
              <a:t>Passing:</a:t>
            </a:r>
            <a:r>
              <a:rPr dirty="0" sz="2150" spc="-195" b="1">
                <a:solidFill>
                  <a:srgbClr val="48BFF7"/>
                </a:solidFill>
                <a:latin typeface="Trebuchet MS"/>
                <a:cs typeface="Trebuchet MS"/>
              </a:rPr>
              <a:t> </a:t>
            </a:r>
            <a:r>
              <a:rPr dirty="0" sz="2150" spc="-40">
                <a:solidFill>
                  <a:srgbClr val="F4F4F4"/>
                </a:solidFill>
                <a:latin typeface="Roboto"/>
                <a:cs typeface="Roboto"/>
              </a:rPr>
              <a:t>All</a:t>
            </a:r>
            <a:r>
              <a:rPr dirty="0" sz="2150" spc="-8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45">
                <a:solidFill>
                  <a:srgbClr val="F4F4F4"/>
                </a:solidFill>
                <a:latin typeface="Roboto"/>
                <a:cs typeface="Roboto"/>
              </a:rPr>
              <a:t>replay</a:t>
            </a:r>
            <a:r>
              <a:rPr dirty="0" sz="2150" spc="-7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45">
                <a:solidFill>
                  <a:srgbClr val="F4F4F4"/>
                </a:solidFill>
                <a:latin typeface="Roboto"/>
                <a:cs typeface="Roboto"/>
              </a:rPr>
              <a:t>contract</a:t>
            </a:r>
            <a:r>
              <a:rPr dirty="0" sz="2150" spc="-8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45">
                <a:solidFill>
                  <a:srgbClr val="F4F4F4"/>
                </a:solidFill>
                <a:latin typeface="Roboto"/>
                <a:cs typeface="Roboto"/>
              </a:rPr>
              <a:t>assertions</a:t>
            </a:r>
            <a:r>
              <a:rPr dirty="0" sz="2150" spc="-8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45">
                <a:solidFill>
                  <a:srgbClr val="F4F4F4"/>
                </a:solidFill>
                <a:latin typeface="Roboto"/>
                <a:cs typeface="Roboto"/>
              </a:rPr>
              <a:t>verified</a:t>
            </a:r>
            <a:r>
              <a:rPr dirty="0" sz="2150" spc="-7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20">
                <a:solidFill>
                  <a:srgbClr val="F4F4F4"/>
                </a:solidFill>
                <a:latin typeface="Roboto"/>
                <a:cs typeface="Roboto"/>
              </a:rPr>
              <a:t>in</a:t>
            </a:r>
            <a:r>
              <a:rPr dirty="0" sz="2150" spc="-8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20">
                <a:solidFill>
                  <a:srgbClr val="F4F4F4"/>
                </a:solidFill>
                <a:latin typeface="Roboto"/>
                <a:cs typeface="Roboto"/>
              </a:rPr>
              <a:t>src/</a:t>
            </a:r>
            <a:endParaRPr sz="2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150" spc="-40">
                <a:solidFill>
                  <a:srgbClr val="F4F4F4"/>
                </a:solidFill>
                <a:latin typeface="Roboto"/>
                <a:cs typeface="Roboto"/>
              </a:rPr>
              <a:t>_tests</a:t>
            </a:r>
            <a:r>
              <a:rPr dirty="0" sz="2150" spc="-9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F4F4F4"/>
                </a:solidFill>
                <a:latin typeface="Roboto"/>
                <a:cs typeface="Roboto"/>
              </a:rPr>
              <a:t>_/importEngine.test.ts.</a:t>
            </a:r>
            <a:endParaRPr sz="2150">
              <a:latin typeface="Roboto"/>
              <a:cs typeface="Roboto"/>
            </a:endParaRPr>
          </a:p>
          <a:p>
            <a:pPr marL="18415" marR="577850">
              <a:lnSpc>
                <a:spcPct val="114399"/>
              </a:lnSpc>
              <a:spcBef>
                <a:spcPts val="1095"/>
              </a:spcBef>
            </a:pPr>
            <a:r>
              <a:rPr dirty="0" sz="2150" spc="-75" b="1">
                <a:solidFill>
                  <a:srgbClr val="48BFF7"/>
                </a:solidFill>
                <a:latin typeface="Trebuchet MS"/>
                <a:cs typeface="Trebuchet MS"/>
              </a:rPr>
              <a:t>Downgrade</a:t>
            </a:r>
            <a:r>
              <a:rPr dirty="0" sz="2150" spc="-180" b="1">
                <a:solidFill>
                  <a:srgbClr val="48BFF7"/>
                </a:solidFill>
                <a:latin typeface="Trebuchet MS"/>
                <a:cs typeface="Trebuchet MS"/>
              </a:rPr>
              <a:t> </a:t>
            </a:r>
            <a:r>
              <a:rPr dirty="0" sz="2150" spc="-125" b="1">
                <a:solidFill>
                  <a:srgbClr val="48BFF7"/>
                </a:solidFill>
                <a:latin typeface="Trebuchet MS"/>
                <a:cs typeface="Trebuchet MS"/>
              </a:rPr>
              <a:t>Rejection:</a:t>
            </a:r>
            <a:r>
              <a:rPr dirty="0" sz="2150" spc="-180" b="1">
                <a:solidFill>
                  <a:srgbClr val="48BFF7"/>
                </a:solidFill>
                <a:latin typeface="Trebuchet MS"/>
                <a:cs typeface="Trebuchet MS"/>
              </a:rPr>
              <a:t> </a:t>
            </a:r>
            <a:r>
              <a:rPr dirty="0" sz="2150" spc="-55">
                <a:solidFill>
                  <a:srgbClr val="F4F4F4"/>
                </a:solidFill>
                <a:latin typeface="Roboto"/>
                <a:cs typeface="Roboto"/>
              </a:rPr>
              <a:t>Re-</a:t>
            </a:r>
            <a:r>
              <a:rPr dirty="0" sz="2150" spc="-45">
                <a:solidFill>
                  <a:srgbClr val="F4F4F4"/>
                </a:solidFill>
                <a:latin typeface="Roboto"/>
                <a:cs typeface="Roboto"/>
              </a:rPr>
              <a:t>importing</a:t>
            </a:r>
            <a:r>
              <a:rPr dirty="0" sz="2150" spc="-7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45">
                <a:solidFill>
                  <a:srgbClr val="F4F4F4"/>
                </a:solidFill>
                <a:latin typeface="Roboto"/>
                <a:cs typeface="Roboto"/>
              </a:rPr>
              <a:t>revision</a:t>
            </a:r>
            <a:r>
              <a:rPr dirty="0" sz="2150" spc="-6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F4F4F4"/>
                </a:solidFill>
                <a:latin typeface="Roboto"/>
                <a:cs typeface="Roboto"/>
              </a:rPr>
              <a:t>1</a:t>
            </a:r>
            <a:r>
              <a:rPr dirty="0" sz="2150" spc="-7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40">
                <a:solidFill>
                  <a:srgbClr val="F4F4F4"/>
                </a:solidFill>
                <a:latin typeface="Roboto"/>
                <a:cs typeface="Roboto"/>
              </a:rPr>
              <a:t>after</a:t>
            </a:r>
            <a:r>
              <a:rPr dirty="0" sz="2150" spc="-6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45">
                <a:solidFill>
                  <a:srgbClr val="F4F4F4"/>
                </a:solidFill>
                <a:latin typeface="Roboto"/>
                <a:cs typeface="Roboto"/>
              </a:rPr>
              <a:t>revision</a:t>
            </a:r>
            <a:r>
              <a:rPr dirty="0" sz="2150" spc="-6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F4F4F4"/>
                </a:solidFill>
                <a:latin typeface="Roboto"/>
                <a:cs typeface="Roboto"/>
              </a:rPr>
              <a:t>2</a:t>
            </a:r>
            <a:r>
              <a:rPr dirty="0" sz="2150" spc="-7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45">
                <a:solidFill>
                  <a:srgbClr val="F4F4F4"/>
                </a:solidFill>
                <a:latin typeface="Roboto"/>
                <a:cs typeface="Roboto"/>
              </a:rPr>
              <a:t>ignores</a:t>
            </a:r>
            <a:r>
              <a:rPr dirty="0" sz="2150" spc="-6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F4F4F4"/>
                </a:solidFill>
                <a:latin typeface="Roboto"/>
                <a:cs typeface="Roboto"/>
              </a:rPr>
              <a:t>stale </a:t>
            </a:r>
            <a:r>
              <a:rPr dirty="0" sz="2150" spc="-45">
                <a:solidFill>
                  <a:srgbClr val="F4F4F4"/>
                </a:solidFill>
                <a:latin typeface="Roboto"/>
                <a:cs typeface="Roboto"/>
              </a:rPr>
              <a:t>records,</a:t>
            </a:r>
            <a:r>
              <a:rPr dirty="0" sz="2150" spc="-7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45">
                <a:solidFill>
                  <a:srgbClr val="F4F4F4"/>
                </a:solidFill>
                <a:latin typeface="Roboto"/>
                <a:cs typeface="Roboto"/>
              </a:rPr>
              <a:t>preventing</a:t>
            </a:r>
            <a:r>
              <a:rPr dirty="0" sz="2150" spc="-7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F4F4F4"/>
                </a:solidFill>
                <a:latin typeface="Roboto"/>
                <a:cs typeface="Roboto"/>
              </a:rPr>
              <a:t>regressions.</a:t>
            </a:r>
            <a:endParaRPr sz="215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36279" y="8736916"/>
            <a:ext cx="9314815" cy="810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95"/>
              </a:spcBef>
            </a:pPr>
            <a:r>
              <a:rPr dirty="0" sz="2250" spc="-55" b="1">
                <a:solidFill>
                  <a:srgbClr val="48BFF7"/>
                </a:solidFill>
                <a:latin typeface="Trebuchet MS"/>
                <a:cs typeface="Trebuchet MS"/>
              </a:rPr>
              <a:t>Machine-</a:t>
            </a:r>
            <a:r>
              <a:rPr dirty="0" sz="2250" spc="-85" b="1">
                <a:solidFill>
                  <a:srgbClr val="48BFF7"/>
                </a:solidFill>
                <a:latin typeface="Trebuchet MS"/>
                <a:cs typeface="Trebuchet MS"/>
              </a:rPr>
              <a:t>Readable</a:t>
            </a:r>
            <a:r>
              <a:rPr dirty="0" sz="2250" spc="-170" b="1">
                <a:solidFill>
                  <a:srgbClr val="48BFF7"/>
                </a:solidFill>
                <a:latin typeface="Trebuchet MS"/>
                <a:cs typeface="Trebuchet MS"/>
              </a:rPr>
              <a:t> </a:t>
            </a:r>
            <a:r>
              <a:rPr dirty="0" sz="2250" spc="-140" b="1">
                <a:solidFill>
                  <a:srgbClr val="48BFF7"/>
                </a:solidFill>
                <a:latin typeface="Trebuchet MS"/>
                <a:cs typeface="Trebuchet MS"/>
              </a:rPr>
              <a:t>Export:</a:t>
            </a:r>
            <a:r>
              <a:rPr dirty="0" sz="2250" spc="-165" b="1">
                <a:solidFill>
                  <a:srgbClr val="48BFF7"/>
                </a:solidFill>
                <a:latin typeface="Trebuchet MS"/>
                <a:cs typeface="Trebuchet MS"/>
              </a:rPr>
              <a:t> </a:t>
            </a:r>
            <a:r>
              <a:rPr dirty="0" sz="2250" spc="-50">
                <a:solidFill>
                  <a:srgbClr val="F4F4F4"/>
                </a:solidFill>
                <a:latin typeface="Roboto"/>
                <a:cs typeface="Roboto"/>
              </a:rPr>
              <a:t>Generates</a:t>
            </a:r>
            <a:r>
              <a:rPr dirty="0" sz="2250" spc="-4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250" spc="-55">
                <a:solidFill>
                  <a:srgbClr val="F4F4F4"/>
                </a:solidFill>
                <a:latin typeface="Roboto"/>
                <a:cs typeface="Roboto"/>
              </a:rPr>
              <a:t>manifest</a:t>
            </a:r>
            <a:r>
              <a:rPr dirty="0" sz="2250" spc="-45">
                <a:solidFill>
                  <a:srgbClr val="F4F4F4"/>
                </a:solidFill>
                <a:latin typeface="Roboto"/>
                <a:cs typeface="Roboto"/>
              </a:rPr>
              <a:t> json, </a:t>
            </a:r>
            <a:r>
              <a:rPr dirty="0" sz="2250" spc="-65">
                <a:solidFill>
                  <a:srgbClr val="F4F4F4"/>
                </a:solidFill>
                <a:latin typeface="Roboto"/>
                <a:cs typeface="Roboto"/>
              </a:rPr>
              <a:t>manager-</a:t>
            </a:r>
            <a:r>
              <a:rPr dirty="0" sz="2250" spc="-10">
                <a:solidFill>
                  <a:srgbClr val="F4F4F4"/>
                </a:solidFill>
                <a:latin typeface="Roboto"/>
                <a:cs typeface="Roboto"/>
              </a:rPr>
              <a:t>brief.md, </a:t>
            </a:r>
            <a:r>
              <a:rPr dirty="0" sz="2250" spc="-55">
                <a:solidFill>
                  <a:srgbClr val="F4F4F4"/>
                </a:solidFill>
                <a:latin typeface="Roboto"/>
                <a:cs typeface="Roboto"/>
              </a:rPr>
              <a:t>dashboard</a:t>
            </a:r>
            <a:r>
              <a:rPr dirty="0" sz="22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250" spc="-55">
                <a:solidFill>
                  <a:srgbClr val="F4F4F4"/>
                </a:solidFill>
                <a:latin typeface="Roboto"/>
                <a:cs typeface="Roboto"/>
              </a:rPr>
              <a:t>metrics,</a:t>
            </a:r>
            <a:r>
              <a:rPr dirty="0" sz="2250" spc="-8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250" spc="-45">
                <a:solidFill>
                  <a:srgbClr val="F4F4F4"/>
                </a:solidFill>
                <a:latin typeface="Roboto"/>
                <a:cs typeface="Roboto"/>
              </a:rPr>
              <a:t>and</a:t>
            </a:r>
            <a:r>
              <a:rPr dirty="0" sz="22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250" spc="-55">
                <a:solidFill>
                  <a:srgbClr val="F4F4F4"/>
                </a:solidFill>
                <a:latin typeface="Roboto"/>
                <a:cs typeface="Roboto"/>
              </a:rPr>
              <a:t>organized</a:t>
            </a:r>
            <a:r>
              <a:rPr dirty="0" sz="22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250" spc="-55">
                <a:solidFill>
                  <a:srgbClr val="F4F4F4"/>
                </a:solidFill>
                <a:latin typeface="Roboto"/>
                <a:cs typeface="Roboto"/>
              </a:rPr>
              <a:t>folders</a:t>
            </a:r>
            <a:r>
              <a:rPr dirty="0" sz="2250" spc="-8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250" spc="-50">
                <a:solidFill>
                  <a:srgbClr val="F4F4F4"/>
                </a:solidFill>
                <a:latin typeface="Roboto"/>
                <a:cs typeface="Roboto"/>
              </a:rPr>
              <a:t>packaged</a:t>
            </a:r>
            <a:r>
              <a:rPr dirty="0" sz="22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250" spc="-30">
                <a:solidFill>
                  <a:srgbClr val="F4F4F4"/>
                </a:solidFill>
                <a:latin typeface="Roboto"/>
                <a:cs typeface="Roboto"/>
              </a:rPr>
              <a:t>as</a:t>
            </a:r>
            <a:r>
              <a:rPr dirty="0" sz="2250" spc="-8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250" spc="-55">
                <a:solidFill>
                  <a:srgbClr val="F4F4F4"/>
                </a:solidFill>
                <a:latin typeface="Roboto"/>
                <a:cs typeface="Roboto"/>
              </a:rPr>
              <a:t>exports.zip</a:t>
            </a:r>
            <a:r>
              <a:rPr dirty="0" sz="2250" spc="-80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250" spc="-45">
                <a:solidFill>
                  <a:srgbClr val="F4F4F4"/>
                </a:solidFill>
                <a:latin typeface="Roboto"/>
                <a:cs typeface="Roboto"/>
              </a:rPr>
              <a:t>via</a:t>
            </a:r>
            <a:r>
              <a:rPr dirty="0" sz="2250" spc="-85">
                <a:solidFill>
                  <a:srgbClr val="F4F4F4"/>
                </a:solidFill>
                <a:latin typeface="Roboto"/>
                <a:cs typeface="Roboto"/>
              </a:rPr>
              <a:t> </a:t>
            </a:r>
            <a:r>
              <a:rPr dirty="0" sz="2250" spc="-10">
                <a:solidFill>
                  <a:srgbClr val="F4F4F4"/>
                </a:solidFill>
                <a:latin typeface="Roboto"/>
                <a:cs typeface="Roboto"/>
              </a:rPr>
              <a:t>JSZip.</a:t>
            </a:r>
            <a:endParaRPr sz="22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Abhinand N</dc:creator>
  <cp:keywords>DAHYzoGczWA,BAG1SK-we4w</cp:keywords>
  <dc:title>Revenue Intelligence Inbox</dc:title>
  <dcterms:created xsi:type="dcterms:W3CDTF">2026-10-23T07:50:21Z</dcterms:created>
  <dcterms:modified xsi:type="dcterms:W3CDTF">2026-10-23T07:50:21Z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2026-10-23T00:00:00Z</vt:filetime>
  </property>
  <property fmtid="{D5CDD505-2E9C-101B-9397-08002B2CF9AE}" pid="4" name="Creator">
    <vt:lpwstr>Canva</vt:lpwstr>
  </property>
  <property fmtid="{D5CDD505-2E9C-101B-9397-08002B2CF9AE}" pid="5" name="LastSaved">
    <vt:filetime>2026-10-23T00:00:00Z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